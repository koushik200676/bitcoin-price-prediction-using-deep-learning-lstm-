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1" autoAdjust="0"/>
    <p:restoredTop sz="94660"/>
  </p:normalViewPr>
  <p:slideViewPr>
    <p:cSldViewPr snapToGrid="0">
      <p:cViewPr varScale="1">
        <p:scale>
          <a:sx n="64" d="100"/>
          <a:sy n="64" d="100"/>
        </p:scale>
        <p:origin x="4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orne koushik" userId="b0ba1be741dd0dbe" providerId="LiveId" clId="{26021573-55A8-4D57-816F-92F2EC3B57B9}"/>
    <pc:docChg chg="modSld">
      <pc:chgData name="thorne koushik" userId="b0ba1be741dd0dbe" providerId="LiveId" clId="{26021573-55A8-4D57-816F-92F2EC3B57B9}" dt="2025-09-10T04:26:08.785" v="4" actId="20577"/>
      <pc:docMkLst>
        <pc:docMk/>
      </pc:docMkLst>
      <pc:sldChg chg="modSp mod">
        <pc:chgData name="thorne koushik" userId="b0ba1be741dd0dbe" providerId="LiveId" clId="{26021573-55A8-4D57-816F-92F2EC3B57B9}" dt="2025-09-10T04:26:08.785" v="4" actId="20577"/>
        <pc:sldMkLst>
          <pc:docMk/>
          <pc:sldMk cId="3431820860" sldId="268"/>
        </pc:sldMkLst>
        <pc:spChg chg="mod">
          <ac:chgData name="thorne koushik" userId="b0ba1be741dd0dbe" providerId="LiveId" clId="{26021573-55A8-4D57-816F-92F2EC3B57B9}" dt="2025-09-10T04:26:08.785" v="4" actId="20577"/>
          <ac:spMkLst>
            <pc:docMk/>
            <pc:sldMk cId="3431820860" sldId="268"/>
            <ac:spMk id="9" creationId="{AB921C44-0299-124B-145E-6752CC44C35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C2396-4762-FC6A-298B-C3F5125754F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6C9F493-A677-D5C6-D0D5-6319EFBA86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DBA0D36-4B64-A8D2-F4B7-588772762983}"/>
              </a:ext>
            </a:extLst>
          </p:cNvPr>
          <p:cNvSpPr>
            <a:spLocks noGrp="1"/>
          </p:cNvSpPr>
          <p:nvPr>
            <p:ph type="dt" sz="half" idx="10"/>
          </p:nvPr>
        </p:nvSpPr>
        <p:spPr/>
        <p:txBody>
          <a:bodyPr/>
          <a:lstStyle/>
          <a:p>
            <a:fld id="{9570100E-21FD-45A7-9CEC-F92B55A11925}" type="datetimeFigureOut">
              <a:rPr lang="en-IN" smtClean="0"/>
              <a:t>10-09-2025</a:t>
            </a:fld>
            <a:endParaRPr lang="en-IN"/>
          </a:p>
        </p:txBody>
      </p:sp>
      <p:sp>
        <p:nvSpPr>
          <p:cNvPr id="5" name="Footer Placeholder 4">
            <a:extLst>
              <a:ext uri="{FF2B5EF4-FFF2-40B4-BE49-F238E27FC236}">
                <a16:creationId xmlns:a16="http://schemas.microsoft.com/office/drawing/2014/main" id="{4328E5A4-1CFE-DA96-B8AA-639E02E219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E2DBF25-5DAD-4735-A585-02574091A09F}"/>
              </a:ext>
            </a:extLst>
          </p:cNvPr>
          <p:cNvSpPr>
            <a:spLocks noGrp="1"/>
          </p:cNvSpPr>
          <p:nvPr>
            <p:ph type="sldNum" sz="quarter" idx="12"/>
          </p:nvPr>
        </p:nvSpPr>
        <p:spPr/>
        <p:txBody>
          <a:bodyPr/>
          <a:lstStyle/>
          <a:p>
            <a:fld id="{90269AD0-B6D9-4945-A33E-B2156E3EB0FF}" type="slidenum">
              <a:rPr lang="en-IN" smtClean="0"/>
              <a:t>‹#›</a:t>
            </a:fld>
            <a:endParaRPr lang="en-IN"/>
          </a:p>
        </p:txBody>
      </p:sp>
    </p:spTree>
    <p:extLst>
      <p:ext uri="{BB962C8B-B14F-4D97-AF65-F5344CB8AC3E}">
        <p14:creationId xmlns:p14="http://schemas.microsoft.com/office/powerpoint/2010/main" val="8455813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25632-70D6-7D24-2FAE-D9551A75A42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31A8A74-DBF0-DB6F-5EA6-6A52EB1B05B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7FC7624-32A3-F2F3-08E6-583032BF03FD}"/>
              </a:ext>
            </a:extLst>
          </p:cNvPr>
          <p:cNvSpPr>
            <a:spLocks noGrp="1"/>
          </p:cNvSpPr>
          <p:nvPr>
            <p:ph type="dt" sz="half" idx="10"/>
          </p:nvPr>
        </p:nvSpPr>
        <p:spPr/>
        <p:txBody>
          <a:bodyPr/>
          <a:lstStyle/>
          <a:p>
            <a:fld id="{9570100E-21FD-45A7-9CEC-F92B55A11925}" type="datetimeFigureOut">
              <a:rPr lang="en-IN" smtClean="0"/>
              <a:t>10-09-2025</a:t>
            </a:fld>
            <a:endParaRPr lang="en-IN"/>
          </a:p>
        </p:txBody>
      </p:sp>
      <p:sp>
        <p:nvSpPr>
          <p:cNvPr id="5" name="Footer Placeholder 4">
            <a:extLst>
              <a:ext uri="{FF2B5EF4-FFF2-40B4-BE49-F238E27FC236}">
                <a16:creationId xmlns:a16="http://schemas.microsoft.com/office/drawing/2014/main" id="{600D556D-0CCA-682B-AAB5-B6696D1E2A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E223F7-888F-26D1-A07F-6D726CF9E29C}"/>
              </a:ext>
            </a:extLst>
          </p:cNvPr>
          <p:cNvSpPr>
            <a:spLocks noGrp="1"/>
          </p:cNvSpPr>
          <p:nvPr>
            <p:ph type="sldNum" sz="quarter" idx="12"/>
          </p:nvPr>
        </p:nvSpPr>
        <p:spPr/>
        <p:txBody>
          <a:bodyPr/>
          <a:lstStyle/>
          <a:p>
            <a:fld id="{90269AD0-B6D9-4945-A33E-B2156E3EB0FF}" type="slidenum">
              <a:rPr lang="en-IN" smtClean="0"/>
              <a:t>‹#›</a:t>
            </a:fld>
            <a:endParaRPr lang="en-IN"/>
          </a:p>
        </p:txBody>
      </p:sp>
    </p:spTree>
    <p:extLst>
      <p:ext uri="{BB962C8B-B14F-4D97-AF65-F5344CB8AC3E}">
        <p14:creationId xmlns:p14="http://schemas.microsoft.com/office/powerpoint/2010/main" val="1936442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9C765-16DB-DD8A-A409-30B5F453E22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D138198-476B-1864-C29E-00809556BCE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E82FA0-F74C-47B1-DCAD-1C77ED7FF55D}"/>
              </a:ext>
            </a:extLst>
          </p:cNvPr>
          <p:cNvSpPr>
            <a:spLocks noGrp="1"/>
          </p:cNvSpPr>
          <p:nvPr>
            <p:ph type="dt" sz="half" idx="10"/>
          </p:nvPr>
        </p:nvSpPr>
        <p:spPr/>
        <p:txBody>
          <a:bodyPr/>
          <a:lstStyle/>
          <a:p>
            <a:fld id="{9570100E-21FD-45A7-9CEC-F92B55A11925}" type="datetimeFigureOut">
              <a:rPr lang="en-IN" smtClean="0"/>
              <a:t>10-09-2025</a:t>
            </a:fld>
            <a:endParaRPr lang="en-IN"/>
          </a:p>
        </p:txBody>
      </p:sp>
      <p:sp>
        <p:nvSpPr>
          <p:cNvPr id="5" name="Footer Placeholder 4">
            <a:extLst>
              <a:ext uri="{FF2B5EF4-FFF2-40B4-BE49-F238E27FC236}">
                <a16:creationId xmlns:a16="http://schemas.microsoft.com/office/drawing/2014/main" id="{BEC5B4DD-8E92-0782-5143-7E853277EA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3CB7EA1-8D77-D2FD-84F7-BB747FB6D614}"/>
              </a:ext>
            </a:extLst>
          </p:cNvPr>
          <p:cNvSpPr>
            <a:spLocks noGrp="1"/>
          </p:cNvSpPr>
          <p:nvPr>
            <p:ph type="sldNum" sz="quarter" idx="12"/>
          </p:nvPr>
        </p:nvSpPr>
        <p:spPr/>
        <p:txBody>
          <a:bodyPr/>
          <a:lstStyle/>
          <a:p>
            <a:fld id="{90269AD0-B6D9-4945-A33E-B2156E3EB0FF}" type="slidenum">
              <a:rPr lang="en-IN" smtClean="0"/>
              <a:t>‹#›</a:t>
            </a:fld>
            <a:endParaRPr lang="en-IN"/>
          </a:p>
        </p:txBody>
      </p:sp>
    </p:spTree>
    <p:extLst>
      <p:ext uri="{BB962C8B-B14F-4D97-AF65-F5344CB8AC3E}">
        <p14:creationId xmlns:p14="http://schemas.microsoft.com/office/powerpoint/2010/main" val="35217274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D4BED-9489-5B6C-4727-B614FC07411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749BA13-0245-F881-DBE9-6262D5FE78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93C278C-EB31-5EB1-F9B0-2B4253A328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392DF6C-1CA4-E7C6-9534-3CE72FCBB42D}"/>
              </a:ext>
            </a:extLst>
          </p:cNvPr>
          <p:cNvSpPr>
            <a:spLocks noGrp="1"/>
          </p:cNvSpPr>
          <p:nvPr>
            <p:ph type="dt" sz="half" idx="10"/>
          </p:nvPr>
        </p:nvSpPr>
        <p:spPr/>
        <p:txBody>
          <a:bodyPr/>
          <a:lstStyle/>
          <a:p>
            <a:fld id="{9570100E-21FD-45A7-9CEC-F92B55A11925}" type="datetimeFigureOut">
              <a:rPr lang="en-IN" smtClean="0"/>
              <a:t>10-09-2025</a:t>
            </a:fld>
            <a:endParaRPr lang="en-IN"/>
          </a:p>
        </p:txBody>
      </p:sp>
      <p:sp>
        <p:nvSpPr>
          <p:cNvPr id="6" name="Footer Placeholder 5">
            <a:extLst>
              <a:ext uri="{FF2B5EF4-FFF2-40B4-BE49-F238E27FC236}">
                <a16:creationId xmlns:a16="http://schemas.microsoft.com/office/drawing/2014/main" id="{3878A298-2C81-8B6A-F206-E1877ADDBC2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2B0FD18-DE8F-7EF4-1B8C-CB1747ABE422}"/>
              </a:ext>
            </a:extLst>
          </p:cNvPr>
          <p:cNvSpPr>
            <a:spLocks noGrp="1"/>
          </p:cNvSpPr>
          <p:nvPr>
            <p:ph type="sldNum" sz="quarter" idx="12"/>
          </p:nvPr>
        </p:nvSpPr>
        <p:spPr/>
        <p:txBody>
          <a:bodyPr/>
          <a:lstStyle/>
          <a:p>
            <a:fld id="{90269AD0-B6D9-4945-A33E-B2156E3EB0FF}" type="slidenum">
              <a:rPr lang="en-IN" smtClean="0"/>
              <a:t>‹#›</a:t>
            </a:fld>
            <a:endParaRPr lang="en-IN"/>
          </a:p>
        </p:txBody>
      </p:sp>
    </p:spTree>
    <p:extLst>
      <p:ext uri="{BB962C8B-B14F-4D97-AF65-F5344CB8AC3E}">
        <p14:creationId xmlns:p14="http://schemas.microsoft.com/office/powerpoint/2010/main" val="4150595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5695B-ACCA-822F-CE75-1B28DD71E5C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3085F9C-4A55-E4CB-14C0-6977B19E0FC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651A81-3302-0304-3D90-C7971C745F9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3ED0F20-950F-8768-380D-BC33B40FB1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29E556-8B46-A906-0AB0-075F84C7455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11D17C6-886C-8399-6062-CCA0323D06B5}"/>
              </a:ext>
            </a:extLst>
          </p:cNvPr>
          <p:cNvSpPr>
            <a:spLocks noGrp="1"/>
          </p:cNvSpPr>
          <p:nvPr>
            <p:ph type="dt" sz="half" idx="10"/>
          </p:nvPr>
        </p:nvSpPr>
        <p:spPr/>
        <p:txBody>
          <a:bodyPr/>
          <a:lstStyle/>
          <a:p>
            <a:fld id="{9570100E-21FD-45A7-9CEC-F92B55A11925}" type="datetimeFigureOut">
              <a:rPr lang="en-IN" smtClean="0"/>
              <a:t>10-09-2025</a:t>
            </a:fld>
            <a:endParaRPr lang="en-IN"/>
          </a:p>
        </p:txBody>
      </p:sp>
      <p:sp>
        <p:nvSpPr>
          <p:cNvPr id="8" name="Footer Placeholder 7">
            <a:extLst>
              <a:ext uri="{FF2B5EF4-FFF2-40B4-BE49-F238E27FC236}">
                <a16:creationId xmlns:a16="http://schemas.microsoft.com/office/drawing/2014/main" id="{A8150E29-2BE4-677B-19F4-F8EEDD56194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0B87AAF-619D-F3C8-1F70-4EBB4948BA18}"/>
              </a:ext>
            </a:extLst>
          </p:cNvPr>
          <p:cNvSpPr>
            <a:spLocks noGrp="1"/>
          </p:cNvSpPr>
          <p:nvPr>
            <p:ph type="sldNum" sz="quarter" idx="12"/>
          </p:nvPr>
        </p:nvSpPr>
        <p:spPr/>
        <p:txBody>
          <a:bodyPr/>
          <a:lstStyle/>
          <a:p>
            <a:fld id="{90269AD0-B6D9-4945-A33E-B2156E3EB0FF}" type="slidenum">
              <a:rPr lang="en-IN" smtClean="0"/>
              <a:t>‹#›</a:t>
            </a:fld>
            <a:endParaRPr lang="en-IN"/>
          </a:p>
        </p:txBody>
      </p:sp>
    </p:spTree>
    <p:extLst>
      <p:ext uri="{BB962C8B-B14F-4D97-AF65-F5344CB8AC3E}">
        <p14:creationId xmlns:p14="http://schemas.microsoft.com/office/powerpoint/2010/main" val="660625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2AD6B-A8F6-49C7-923B-0057A869647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B37BE63-5DC7-4AFF-9D17-605F82A2EB89}"/>
              </a:ext>
            </a:extLst>
          </p:cNvPr>
          <p:cNvSpPr>
            <a:spLocks noGrp="1"/>
          </p:cNvSpPr>
          <p:nvPr>
            <p:ph type="dt" sz="half" idx="10"/>
          </p:nvPr>
        </p:nvSpPr>
        <p:spPr/>
        <p:txBody>
          <a:bodyPr/>
          <a:lstStyle/>
          <a:p>
            <a:fld id="{9570100E-21FD-45A7-9CEC-F92B55A11925}" type="datetimeFigureOut">
              <a:rPr lang="en-IN" smtClean="0"/>
              <a:t>10-09-2025</a:t>
            </a:fld>
            <a:endParaRPr lang="en-IN"/>
          </a:p>
        </p:txBody>
      </p:sp>
      <p:sp>
        <p:nvSpPr>
          <p:cNvPr id="4" name="Footer Placeholder 3">
            <a:extLst>
              <a:ext uri="{FF2B5EF4-FFF2-40B4-BE49-F238E27FC236}">
                <a16:creationId xmlns:a16="http://schemas.microsoft.com/office/drawing/2014/main" id="{A7C744F2-709F-D22E-0817-E7AC3E2EFE8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B2C30A6-9851-3D1B-678B-9A09906D669A}"/>
              </a:ext>
            </a:extLst>
          </p:cNvPr>
          <p:cNvSpPr>
            <a:spLocks noGrp="1"/>
          </p:cNvSpPr>
          <p:nvPr>
            <p:ph type="sldNum" sz="quarter" idx="12"/>
          </p:nvPr>
        </p:nvSpPr>
        <p:spPr/>
        <p:txBody>
          <a:bodyPr/>
          <a:lstStyle/>
          <a:p>
            <a:fld id="{90269AD0-B6D9-4945-A33E-B2156E3EB0FF}" type="slidenum">
              <a:rPr lang="en-IN" smtClean="0"/>
              <a:t>‹#›</a:t>
            </a:fld>
            <a:endParaRPr lang="en-IN"/>
          </a:p>
        </p:txBody>
      </p:sp>
    </p:spTree>
    <p:extLst>
      <p:ext uri="{BB962C8B-B14F-4D97-AF65-F5344CB8AC3E}">
        <p14:creationId xmlns:p14="http://schemas.microsoft.com/office/powerpoint/2010/main" val="40781337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AC1606-4282-2C37-984B-837A49224CEB}"/>
              </a:ext>
            </a:extLst>
          </p:cNvPr>
          <p:cNvSpPr>
            <a:spLocks noGrp="1"/>
          </p:cNvSpPr>
          <p:nvPr>
            <p:ph type="dt" sz="half" idx="10"/>
          </p:nvPr>
        </p:nvSpPr>
        <p:spPr/>
        <p:txBody>
          <a:bodyPr/>
          <a:lstStyle/>
          <a:p>
            <a:fld id="{9570100E-21FD-45A7-9CEC-F92B55A11925}" type="datetimeFigureOut">
              <a:rPr lang="en-IN" smtClean="0"/>
              <a:t>10-09-2025</a:t>
            </a:fld>
            <a:endParaRPr lang="en-IN"/>
          </a:p>
        </p:txBody>
      </p:sp>
      <p:sp>
        <p:nvSpPr>
          <p:cNvPr id="3" name="Footer Placeholder 2">
            <a:extLst>
              <a:ext uri="{FF2B5EF4-FFF2-40B4-BE49-F238E27FC236}">
                <a16:creationId xmlns:a16="http://schemas.microsoft.com/office/drawing/2014/main" id="{1E832C44-9CEC-7BC7-4F94-228345BE714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8BBD40C-ADA3-9468-F51D-B9F29520EE25}"/>
              </a:ext>
            </a:extLst>
          </p:cNvPr>
          <p:cNvSpPr>
            <a:spLocks noGrp="1"/>
          </p:cNvSpPr>
          <p:nvPr>
            <p:ph type="sldNum" sz="quarter" idx="12"/>
          </p:nvPr>
        </p:nvSpPr>
        <p:spPr/>
        <p:txBody>
          <a:bodyPr/>
          <a:lstStyle/>
          <a:p>
            <a:fld id="{90269AD0-B6D9-4945-A33E-B2156E3EB0FF}" type="slidenum">
              <a:rPr lang="en-IN" smtClean="0"/>
              <a:t>‹#›</a:t>
            </a:fld>
            <a:endParaRPr lang="en-IN"/>
          </a:p>
        </p:txBody>
      </p:sp>
    </p:spTree>
    <p:extLst>
      <p:ext uri="{BB962C8B-B14F-4D97-AF65-F5344CB8AC3E}">
        <p14:creationId xmlns:p14="http://schemas.microsoft.com/office/powerpoint/2010/main" val="28448703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276E4-3685-4314-4ECE-3C6A652D37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100194A-E20F-2720-5DF0-F9D7418C81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6E20621-365A-C0C2-AC1F-0A710225A1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44F07B-4931-9636-5F6F-F031419C4895}"/>
              </a:ext>
            </a:extLst>
          </p:cNvPr>
          <p:cNvSpPr>
            <a:spLocks noGrp="1"/>
          </p:cNvSpPr>
          <p:nvPr>
            <p:ph type="dt" sz="half" idx="10"/>
          </p:nvPr>
        </p:nvSpPr>
        <p:spPr/>
        <p:txBody>
          <a:bodyPr/>
          <a:lstStyle/>
          <a:p>
            <a:fld id="{9570100E-21FD-45A7-9CEC-F92B55A11925}" type="datetimeFigureOut">
              <a:rPr lang="en-IN" smtClean="0"/>
              <a:t>10-09-2025</a:t>
            </a:fld>
            <a:endParaRPr lang="en-IN"/>
          </a:p>
        </p:txBody>
      </p:sp>
      <p:sp>
        <p:nvSpPr>
          <p:cNvPr id="6" name="Footer Placeholder 5">
            <a:extLst>
              <a:ext uri="{FF2B5EF4-FFF2-40B4-BE49-F238E27FC236}">
                <a16:creationId xmlns:a16="http://schemas.microsoft.com/office/drawing/2014/main" id="{2B84C901-A352-A1D7-4A51-EDAF340C5C0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F6921F3-5011-7452-9F9B-58B0AB90910E}"/>
              </a:ext>
            </a:extLst>
          </p:cNvPr>
          <p:cNvSpPr>
            <a:spLocks noGrp="1"/>
          </p:cNvSpPr>
          <p:nvPr>
            <p:ph type="sldNum" sz="quarter" idx="12"/>
          </p:nvPr>
        </p:nvSpPr>
        <p:spPr/>
        <p:txBody>
          <a:bodyPr/>
          <a:lstStyle/>
          <a:p>
            <a:fld id="{90269AD0-B6D9-4945-A33E-B2156E3EB0FF}" type="slidenum">
              <a:rPr lang="en-IN" smtClean="0"/>
              <a:t>‹#›</a:t>
            </a:fld>
            <a:endParaRPr lang="en-IN"/>
          </a:p>
        </p:txBody>
      </p:sp>
    </p:spTree>
    <p:extLst>
      <p:ext uri="{BB962C8B-B14F-4D97-AF65-F5344CB8AC3E}">
        <p14:creationId xmlns:p14="http://schemas.microsoft.com/office/powerpoint/2010/main" val="12500840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6BB33-A143-F669-6126-CD48823740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274D481-4D00-9E95-A27D-98FA4A5E3D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2DC1F44-A08F-055A-CB27-CEE04669E1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CD924D-DB94-C354-2A7F-F3338FB9B364}"/>
              </a:ext>
            </a:extLst>
          </p:cNvPr>
          <p:cNvSpPr>
            <a:spLocks noGrp="1"/>
          </p:cNvSpPr>
          <p:nvPr>
            <p:ph type="dt" sz="half" idx="10"/>
          </p:nvPr>
        </p:nvSpPr>
        <p:spPr/>
        <p:txBody>
          <a:bodyPr/>
          <a:lstStyle/>
          <a:p>
            <a:fld id="{9570100E-21FD-45A7-9CEC-F92B55A11925}" type="datetimeFigureOut">
              <a:rPr lang="en-IN" smtClean="0"/>
              <a:t>10-09-2025</a:t>
            </a:fld>
            <a:endParaRPr lang="en-IN"/>
          </a:p>
        </p:txBody>
      </p:sp>
      <p:sp>
        <p:nvSpPr>
          <p:cNvPr id="6" name="Footer Placeholder 5">
            <a:extLst>
              <a:ext uri="{FF2B5EF4-FFF2-40B4-BE49-F238E27FC236}">
                <a16:creationId xmlns:a16="http://schemas.microsoft.com/office/drawing/2014/main" id="{850F343D-EEF9-0259-3622-A973354931E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E6487B9-952C-B290-C54A-9D7CFD15C599}"/>
              </a:ext>
            </a:extLst>
          </p:cNvPr>
          <p:cNvSpPr>
            <a:spLocks noGrp="1"/>
          </p:cNvSpPr>
          <p:nvPr>
            <p:ph type="sldNum" sz="quarter" idx="12"/>
          </p:nvPr>
        </p:nvSpPr>
        <p:spPr/>
        <p:txBody>
          <a:bodyPr/>
          <a:lstStyle/>
          <a:p>
            <a:fld id="{90269AD0-B6D9-4945-A33E-B2156E3EB0FF}" type="slidenum">
              <a:rPr lang="en-IN" smtClean="0"/>
              <a:t>‹#›</a:t>
            </a:fld>
            <a:endParaRPr lang="en-IN"/>
          </a:p>
        </p:txBody>
      </p:sp>
    </p:spTree>
    <p:extLst>
      <p:ext uri="{BB962C8B-B14F-4D97-AF65-F5344CB8AC3E}">
        <p14:creationId xmlns:p14="http://schemas.microsoft.com/office/powerpoint/2010/main" val="23976382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20095-83BC-1BC0-E9C0-A470E9DFC3E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3F5EF49-CD15-A22C-8440-1B689CD8B5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131D5E9-5834-13CB-9B0E-2483416EC65C}"/>
              </a:ext>
            </a:extLst>
          </p:cNvPr>
          <p:cNvSpPr>
            <a:spLocks noGrp="1"/>
          </p:cNvSpPr>
          <p:nvPr>
            <p:ph type="dt" sz="half" idx="10"/>
          </p:nvPr>
        </p:nvSpPr>
        <p:spPr/>
        <p:txBody>
          <a:bodyPr/>
          <a:lstStyle/>
          <a:p>
            <a:fld id="{9570100E-21FD-45A7-9CEC-F92B55A11925}" type="datetimeFigureOut">
              <a:rPr lang="en-IN" smtClean="0"/>
              <a:t>10-09-2025</a:t>
            </a:fld>
            <a:endParaRPr lang="en-IN"/>
          </a:p>
        </p:txBody>
      </p:sp>
      <p:sp>
        <p:nvSpPr>
          <p:cNvPr id="5" name="Footer Placeholder 4">
            <a:extLst>
              <a:ext uri="{FF2B5EF4-FFF2-40B4-BE49-F238E27FC236}">
                <a16:creationId xmlns:a16="http://schemas.microsoft.com/office/drawing/2014/main" id="{832941AC-B893-71F6-BD6F-F15B54B9AE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4117DC-0FF2-A520-95F5-4F1326349654}"/>
              </a:ext>
            </a:extLst>
          </p:cNvPr>
          <p:cNvSpPr>
            <a:spLocks noGrp="1"/>
          </p:cNvSpPr>
          <p:nvPr>
            <p:ph type="sldNum" sz="quarter" idx="12"/>
          </p:nvPr>
        </p:nvSpPr>
        <p:spPr/>
        <p:txBody>
          <a:bodyPr/>
          <a:lstStyle/>
          <a:p>
            <a:fld id="{90269AD0-B6D9-4945-A33E-B2156E3EB0FF}" type="slidenum">
              <a:rPr lang="en-IN" smtClean="0"/>
              <a:t>‹#›</a:t>
            </a:fld>
            <a:endParaRPr lang="en-IN"/>
          </a:p>
        </p:txBody>
      </p:sp>
    </p:spTree>
    <p:extLst>
      <p:ext uri="{BB962C8B-B14F-4D97-AF65-F5344CB8AC3E}">
        <p14:creationId xmlns:p14="http://schemas.microsoft.com/office/powerpoint/2010/main" val="3421956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295DD7A-86DC-073E-CE6A-63BEA394686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2778AA6-69E8-6D09-66D9-3C0DACC06E9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EAB2CE-370F-DCCB-8200-A88DDDC310B0}"/>
              </a:ext>
            </a:extLst>
          </p:cNvPr>
          <p:cNvSpPr>
            <a:spLocks noGrp="1"/>
          </p:cNvSpPr>
          <p:nvPr>
            <p:ph type="dt" sz="half" idx="10"/>
          </p:nvPr>
        </p:nvSpPr>
        <p:spPr/>
        <p:txBody>
          <a:bodyPr/>
          <a:lstStyle/>
          <a:p>
            <a:fld id="{9570100E-21FD-45A7-9CEC-F92B55A11925}" type="datetimeFigureOut">
              <a:rPr lang="en-IN" smtClean="0"/>
              <a:t>10-09-2025</a:t>
            </a:fld>
            <a:endParaRPr lang="en-IN"/>
          </a:p>
        </p:txBody>
      </p:sp>
      <p:sp>
        <p:nvSpPr>
          <p:cNvPr id="5" name="Footer Placeholder 4">
            <a:extLst>
              <a:ext uri="{FF2B5EF4-FFF2-40B4-BE49-F238E27FC236}">
                <a16:creationId xmlns:a16="http://schemas.microsoft.com/office/drawing/2014/main" id="{EAC93E0A-B200-F90E-0237-93D0228B93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40D9BBC-71E0-CE86-0740-DED7ADDC71FA}"/>
              </a:ext>
            </a:extLst>
          </p:cNvPr>
          <p:cNvSpPr>
            <a:spLocks noGrp="1"/>
          </p:cNvSpPr>
          <p:nvPr>
            <p:ph type="sldNum" sz="quarter" idx="12"/>
          </p:nvPr>
        </p:nvSpPr>
        <p:spPr/>
        <p:txBody>
          <a:bodyPr/>
          <a:lstStyle/>
          <a:p>
            <a:fld id="{90269AD0-B6D9-4945-A33E-B2156E3EB0FF}" type="slidenum">
              <a:rPr lang="en-IN" smtClean="0"/>
              <a:t>‹#›</a:t>
            </a:fld>
            <a:endParaRPr lang="en-IN"/>
          </a:p>
        </p:txBody>
      </p:sp>
    </p:spTree>
    <p:extLst>
      <p:ext uri="{BB962C8B-B14F-4D97-AF65-F5344CB8AC3E}">
        <p14:creationId xmlns:p14="http://schemas.microsoft.com/office/powerpoint/2010/main" val="7197471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2719C97-EB93-84AE-10CE-105361F627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CB0BE4F-C1CA-A918-11F3-555ED18EA9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22BC17-2BC6-217A-B02F-E30CF79825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70100E-21FD-45A7-9CEC-F92B55A11925}" type="datetimeFigureOut">
              <a:rPr lang="en-IN" smtClean="0"/>
              <a:t>10-09-2025</a:t>
            </a:fld>
            <a:endParaRPr lang="en-IN"/>
          </a:p>
        </p:txBody>
      </p:sp>
      <p:sp>
        <p:nvSpPr>
          <p:cNvPr id="5" name="Footer Placeholder 4">
            <a:extLst>
              <a:ext uri="{FF2B5EF4-FFF2-40B4-BE49-F238E27FC236}">
                <a16:creationId xmlns:a16="http://schemas.microsoft.com/office/drawing/2014/main" id="{90855AA5-7AB8-684E-8374-D11F6F66BC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83230CC-3B69-C29B-BAAE-BC2D8BFB1E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269AD0-B6D9-4945-A33E-B2156E3EB0FF}" type="slidenum">
              <a:rPr lang="en-IN" smtClean="0"/>
              <a:t>‹#›</a:t>
            </a:fld>
            <a:endParaRPr lang="en-IN"/>
          </a:p>
        </p:txBody>
      </p:sp>
    </p:spTree>
    <p:extLst>
      <p:ext uri="{BB962C8B-B14F-4D97-AF65-F5344CB8AC3E}">
        <p14:creationId xmlns:p14="http://schemas.microsoft.com/office/powerpoint/2010/main" val="3744132972"/>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finance.yahoo.com/quote/BTC-USD/"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97512-B809-611A-A991-3C59220DB460}"/>
              </a:ext>
            </a:extLst>
          </p:cNvPr>
          <p:cNvSpPr>
            <a:spLocks noGrp="1"/>
          </p:cNvSpPr>
          <p:nvPr>
            <p:ph type="ctrTitle"/>
          </p:nvPr>
        </p:nvSpPr>
        <p:spPr>
          <a:xfrm>
            <a:off x="62261" y="640825"/>
            <a:ext cx="12067478" cy="2541431"/>
          </a:xfrm>
        </p:spPr>
        <p:txBody>
          <a:bodyPr>
            <a:normAutofit/>
          </a:bodyPr>
          <a:lstStyle/>
          <a:p>
            <a:r>
              <a:rPr lang="en-US" sz="3600" b="1" dirty="0">
                <a:latin typeface="Baskerville Old Face" panose="02020602080505020303" pitchFamily="18" charset="0"/>
              </a:rPr>
              <a:t>Bitcoin Price Prediction Using Deep Learning (LSTM Models)</a:t>
            </a:r>
            <a:endParaRPr lang="en-IN" sz="3600" b="1" dirty="0">
              <a:latin typeface="Baskerville Old Face" panose="02020602080505020303" pitchFamily="18" charset="0"/>
            </a:endParaRPr>
          </a:p>
        </p:txBody>
      </p:sp>
      <p:sp>
        <p:nvSpPr>
          <p:cNvPr id="3" name="Subtitle 2">
            <a:extLst>
              <a:ext uri="{FF2B5EF4-FFF2-40B4-BE49-F238E27FC236}">
                <a16:creationId xmlns:a16="http://schemas.microsoft.com/office/drawing/2014/main" id="{061B08E5-FC6E-68C4-39DC-5F2A8F77F3C4}"/>
              </a:ext>
            </a:extLst>
          </p:cNvPr>
          <p:cNvSpPr>
            <a:spLocks noGrp="1"/>
          </p:cNvSpPr>
          <p:nvPr>
            <p:ph type="subTitle" idx="1"/>
          </p:nvPr>
        </p:nvSpPr>
        <p:spPr>
          <a:xfrm>
            <a:off x="-3684325" y="4783890"/>
            <a:ext cx="12952849" cy="1592943"/>
          </a:xfrm>
        </p:spPr>
        <p:txBody>
          <a:bodyPr>
            <a:normAutofit/>
          </a:bodyPr>
          <a:lstStyle/>
          <a:p>
            <a:r>
              <a:rPr lang="en-US" dirty="0"/>
              <a:t>               2203A51584 – T. SRI DEVA MITHRA KOUSHIK</a:t>
            </a:r>
          </a:p>
          <a:p>
            <a:r>
              <a:rPr lang="en-US" dirty="0"/>
              <a:t>                         2203A51397 – A. MANI KANTA SHARAN CHANDRA</a:t>
            </a:r>
          </a:p>
          <a:p>
            <a:r>
              <a:rPr lang="en-US" dirty="0"/>
              <a:t> 2203A51629 – D. PRASHANTH REDDY </a:t>
            </a:r>
            <a:endParaRPr lang="en-IN" dirty="0"/>
          </a:p>
        </p:txBody>
      </p:sp>
    </p:spTree>
    <p:extLst>
      <p:ext uri="{BB962C8B-B14F-4D97-AF65-F5344CB8AC3E}">
        <p14:creationId xmlns:p14="http://schemas.microsoft.com/office/powerpoint/2010/main" val="24904043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49B264A-8950-278D-EA1A-93BA1F8FE22A}"/>
              </a:ext>
            </a:extLst>
          </p:cNvPr>
          <p:cNvSpPr txBox="1"/>
          <p:nvPr/>
        </p:nvSpPr>
        <p:spPr>
          <a:xfrm>
            <a:off x="493486" y="522515"/>
            <a:ext cx="11205028" cy="4739759"/>
          </a:xfrm>
          <a:prstGeom prst="rect">
            <a:avLst/>
          </a:prstGeom>
          <a:noFill/>
        </p:spPr>
        <p:txBody>
          <a:bodyPr wrap="square">
            <a:spAutoFit/>
          </a:bodyPr>
          <a:lstStyle/>
          <a:p>
            <a:pPr>
              <a:buNone/>
            </a:pPr>
            <a:r>
              <a:rPr lang="en-US" sz="4400" b="1" dirty="0"/>
              <a:t>Introduction :</a:t>
            </a:r>
          </a:p>
          <a:p>
            <a:pPr>
              <a:buNone/>
            </a:pPr>
            <a:endParaRPr lang="en-US" b="1" dirty="0"/>
          </a:p>
          <a:p>
            <a:pPr>
              <a:buNone/>
            </a:pPr>
            <a:r>
              <a:rPr lang="en-US" sz="2400" dirty="0"/>
              <a:t>Bitcoin is the most popular cryptocurrency, but its price is highly volatile and difficult to predict. Traditional models like ARIMA or regression are not effective for such complex and non-linear data. To overcome this, our project uses </a:t>
            </a:r>
            <a:r>
              <a:rPr lang="en-US" sz="2400" b="1" dirty="0"/>
              <a:t>Long Short-Term Memory (LSTM) networks</a:t>
            </a:r>
            <a:r>
              <a:rPr lang="en-US" sz="2400" dirty="0"/>
              <a:t>, which are well-suited for time-series forecasting.</a:t>
            </a:r>
          </a:p>
          <a:p>
            <a:pPr>
              <a:buNone/>
            </a:pPr>
            <a:r>
              <a:rPr lang="en-US" sz="2400" dirty="0"/>
              <a:t>We developed two models:</a:t>
            </a:r>
          </a:p>
          <a:p>
            <a:pPr>
              <a:buFont typeface="Arial" panose="020B0604020202020204" pitchFamily="34" charset="0"/>
              <a:buChar char="•"/>
            </a:pPr>
            <a:r>
              <a:rPr lang="en-US" sz="2400" b="1" dirty="0"/>
              <a:t>Univariate LSTM</a:t>
            </a:r>
            <a:r>
              <a:rPr lang="en-US" sz="2400" dirty="0"/>
              <a:t> → uses past closing prices.</a:t>
            </a:r>
          </a:p>
          <a:p>
            <a:pPr>
              <a:buFont typeface="Arial" panose="020B0604020202020204" pitchFamily="34" charset="0"/>
              <a:buChar char="•"/>
            </a:pPr>
            <a:r>
              <a:rPr lang="en-US" sz="2400" b="1" dirty="0"/>
              <a:t>Multivariate LSTM</a:t>
            </a:r>
            <a:r>
              <a:rPr lang="en-US" sz="2400" dirty="0"/>
              <a:t> → uses multiple features like open, high, low, and adjusted close.</a:t>
            </a:r>
          </a:p>
          <a:p>
            <a:pPr>
              <a:buNone/>
            </a:pPr>
            <a:r>
              <a:rPr lang="en-US" sz="2400" dirty="0"/>
              <a:t>Using historical Bitcoin data from </a:t>
            </a:r>
            <a:r>
              <a:rPr lang="en-US" sz="2400" b="1" dirty="0"/>
              <a:t>Yahoo Finance</a:t>
            </a:r>
            <a:r>
              <a:rPr lang="en-US" sz="2400" dirty="0"/>
              <a:t>, we trained and tested both models. The results showed that the </a:t>
            </a:r>
            <a:r>
              <a:rPr lang="en-US" sz="2400" b="1" dirty="0"/>
              <a:t>Multivariate LSTM performed better</a:t>
            </a:r>
            <a:r>
              <a:rPr lang="en-US" sz="2400" dirty="0"/>
              <a:t>, proving that deep learning is a powerful tool for cryptocurrency prediction.</a:t>
            </a:r>
          </a:p>
        </p:txBody>
      </p:sp>
    </p:spTree>
    <p:extLst>
      <p:ext uri="{BB962C8B-B14F-4D97-AF65-F5344CB8AC3E}">
        <p14:creationId xmlns:p14="http://schemas.microsoft.com/office/powerpoint/2010/main" val="32081136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0918619-03A4-6777-F540-186E37ABB524}"/>
              </a:ext>
            </a:extLst>
          </p:cNvPr>
          <p:cNvSpPr txBox="1"/>
          <p:nvPr/>
        </p:nvSpPr>
        <p:spPr>
          <a:xfrm>
            <a:off x="261257" y="377370"/>
            <a:ext cx="11654972" cy="2431435"/>
          </a:xfrm>
          <a:prstGeom prst="rect">
            <a:avLst/>
          </a:prstGeom>
          <a:noFill/>
        </p:spPr>
        <p:txBody>
          <a:bodyPr wrap="square">
            <a:spAutoFit/>
          </a:bodyPr>
          <a:lstStyle/>
          <a:p>
            <a:pPr>
              <a:buNone/>
            </a:pPr>
            <a:r>
              <a:rPr lang="en-US" sz="2800" b="1" dirty="0"/>
              <a:t>Problem Definition and Objectives:</a:t>
            </a:r>
          </a:p>
          <a:p>
            <a:pPr>
              <a:buNone/>
            </a:pPr>
            <a:r>
              <a:rPr lang="en-US" sz="2800" b="1" dirty="0"/>
              <a:t>Problem Definition:</a:t>
            </a:r>
          </a:p>
          <a:p>
            <a:pPr>
              <a:buNone/>
            </a:pPr>
            <a:r>
              <a:rPr lang="en-US" sz="2400" dirty="0"/>
              <a:t>Bitcoin is the most widely used cryptocurrency, but its price keeps changing rapidly due to many market factors. Traditional models like ARIMA are not suitable because they cannot handle such complex and unpredictable patterns. To solve this, our project uses </a:t>
            </a:r>
            <a:r>
              <a:rPr lang="en-US" sz="2400" b="1" dirty="0"/>
              <a:t>LSTM deep learning models</a:t>
            </a:r>
            <a:r>
              <a:rPr lang="en-US" sz="2400" dirty="0"/>
              <a:t> to predict Bitcoin prices more accurately with the help of historical data.</a:t>
            </a:r>
          </a:p>
        </p:txBody>
      </p:sp>
      <p:sp>
        <p:nvSpPr>
          <p:cNvPr id="7" name="TextBox 6">
            <a:extLst>
              <a:ext uri="{FF2B5EF4-FFF2-40B4-BE49-F238E27FC236}">
                <a16:creationId xmlns:a16="http://schemas.microsoft.com/office/drawing/2014/main" id="{99515FDE-A3CD-0FFF-4446-BFDF4B5B8030}"/>
              </a:ext>
            </a:extLst>
          </p:cNvPr>
          <p:cNvSpPr txBox="1"/>
          <p:nvPr/>
        </p:nvSpPr>
        <p:spPr>
          <a:xfrm>
            <a:off x="261257" y="3018971"/>
            <a:ext cx="11292114" cy="2739211"/>
          </a:xfrm>
          <a:prstGeom prst="rect">
            <a:avLst/>
          </a:prstGeom>
          <a:noFill/>
        </p:spPr>
        <p:txBody>
          <a:bodyPr wrap="square">
            <a:spAutoFit/>
          </a:bodyPr>
          <a:lstStyle/>
          <a:p>
            <a:pPr>
              <a:buNone/>
            </a:pPr>
            <a:r>
              <a:rPr lang="en-US" sz="2800" b="1" dirty="0"/>
              <a:t>Objectives:</a:t>
            </a:r>
          </a:p>
          <a:p>
            <a:pPr>
              <a:buFont typeface="+mj-lt"/>
              <a:buAutoNum type="arabicPeriod"/>
            </a:pPr>
            <a:r>
              <a:rPr lang="en-US" sz="2400" dirty="0"/>
              <a:t>Collect and preprocess Bitcoin price data from Yahoo Finance.</a:t>
            </a:r>
          </a:p>
          <a:p>
            <a:pPr>
              <a:buFont typeface="+mj-lt"/>
              <a:buAutoNum type="arabicPeriod"/>
            </a:pPr>
            <a:r>
              <a:rPr lang="en-US" sz="2400" dirty="0"/>
              <a:t>Build a </a:t>
            </a:r>
            <a:r>
              <a:rPr lang="en-US" sz="2400" b="1" dirty="0"/>
              <a:t>Univariate LSTM model</a:t>
            </a:r>
            <a:r>
              <a:rPr lang="en-US" sz="2400" dirty="0"/>
              <a:t> using only closing prices.</a:t>
            </a:r>
          </a:p>
          <a:p>
            <a:pPr>
              <a:buFont typeface="+mj-lt"/>
              <a:buAutoNum type="arabicPeriod"/>
            </a:pPr>
            <a:r>
              <a:rPr lang="en-US" sz="2400" dirty="0"/>
              <a:t>Build a </a:t>
            </a:r>
            <a:r>
              <a:rPr lang="en-US" sz="2400" b="1" dirty="0"/>
              <a:t>Multivariate LSTM model</a:t>
            </a:r>
            <a:r>
              <a:rPr lang="en-US" sz="2400" dirty="0"/>
              <a:t> using multiple features like open, high, low, and adjusted close.</a:t>
            </a:r>
          </a:p>
          <a:p>
            <a:pPr>
              <a:buFont typeface="+mj-lt"/>
              <a:buAutoNum type="arabicPeriod"/>
            </a:pPr>
            <a:r>
              <a:rPr lang="en-US" sz="2400" dirty="0"/>
              <a:t>Compare the two models using RMSE, MAE, and R² metrics.</a:t>
            </a:r>
          </a:p>
          <a:p>
            <a:pPr>
              <a:buFont typeface="+mj-lt"/>
              <a:buAutoNum type="arabicPeriod"/>
            </a:pPr>
            <a:r>
              <a:rPr lang="en-US" sz="2400" dirty="0"/>
              <a:t>Show that deep learning can be effectively used for cryptocurrency prediction.</a:t>
            </a:r>
          </a:p>
        </p:txBody>
      </p:sp>
    </p:spTree>
    <p:extLst>
      <p:ext uri="{BB962C8B-B14F-4D97-AF65-F5344CB8AC3E}">
        <p14:creationId xmlns:p14="http://schemas.microsoft.com/office/powerpoint/2010/main" val="31190642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BAEC2BF-A287-0F6B-BFEB-512D4F6B5E6E}"/>
              </a:ext>
            </a:extLst>
          </p:cNvPr>
          <p:cNvSpPr txBox="1"/>
          <p:nvPr/>
        </p:nvSpPr>
        <p:spPr>
          <a:xfrm>
            <a:off x="333829" y="391886"/>
            <a:ext cx="8810171" cy="2369880"/>
          </a:xfrm>
          <a:prstGeom prst="rect">
            <a:avLst/>
          </a:prstGeom>
          <a:noFill/>
        </p:spPr>
        <p:txBody>
          <a:bodyPr wrap="square">
            <a:spAutoFit/>
          </a:bodyPr>
          <a:lstStyle/>
          <a:p>
            <a:pPr>
              <a:buNone/>
            </a:pPr>
            <a:r>
              <a:rPr lang="en-US" sz="2800" b="1" dirty="0"/>
              <a:t>Scope :</a:t>
            </a:r>
          </a:p>
          <a:p>
            <a:pPr>
              <a:buFont typeface="Arial" panose="020B0604020202020204" pitchFamily="34" charset="0"/>
              <a:buChar char="•"/>
            </a:pPr>
            <a:r>
              <a:rPr lang="en-US" sz="2400" dirty="0"/>
              <a:t>The project is limited to Bitcoin price prediction only.</a:t>
            </a:r>
          </a:p>
          <a:p>
            <a:pPr>
              <a:buFont typeface="Arial" panose="020B0604020202020204" pitchFamily="34" charset="0"/>
              <a:buChar char="•"/>
            </a:pPr>
            <a:r>
              <a:rPr lang="en-US" sz="2400" dirty="0"/>
              <a:t>We focused on </a:t>
            </a:r>
            <a:r>
              <a:rPr lang="en-US" sz="2400" b="1" dirty="0"/>
              <a:t>LSTM models</a:t>
            </a:r>
            <a:r>
              <a:rPr lang="en-US" sz="2400" dirty="0"/>
              <a:t> (Univariate and Multivariate), not on other forecasting techniques.</a:t>
            </a:r>
          </a:p>
          <a:p>
            <a:pPr>
              <a:buFont typeface="Arial" panose="020B0604020202020204" pitchFamily="34" charset="0"/>
              <a:buChar char="•"/>
            </a:pPr>
            <a:r>
              <a:rPr lang="en-US" sz="2400" dirty="0"/>
              <a:t>The idea can be extended in the future to predict other time-series data like stock prices or energy usage.</a:t>
            </a:r>
          </a:p>
        </p:txBody>
      </p:sp>
    </p:spTree>
    <p:extLst>
      <p:ext uri="{BB962C8B-B14F-4D97-AF65-F5344CB8AC3E}">
        <p14:creationId xmlns:p14="http://schemas.microsoft.com/office/powerpoint/2010/main" val="15273919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EC926B9-C16C-7DC5-DE2B-C31508AB9FDE}"/>
              </a:ext>
            </a:extLst>
          </p:cNvPr>
          <p:cNvSpPr txBox="1"/>
          <p:nvPr/>
        </p:nvSpPr>
        <p:spPr>
          <a:xfrm>
            <a:off x="275771" y="217714"/>
            <a:ext cx="11625943" cy="5724644"/>
          </a:xfrm>
          <a:prstGeom prst="rect">
            <a:avLst/>
          </a:prstGeom>
          <a:noFill/>
        </p:spPr>
        <p:txBody>
          <a:bodyPr wrap="square">
            <a:spAutoFit/>
          </a:bodyPr>
          <a:lstStyle/>
          <a:p>
            <a:pPr>
              <a:buNone/>
            </a:pPr>
            <a:r>
              <a:rPr lang="en-US" sz="2400" b="1" dirty="0"/>
              <a:t>Literature Review and Background Study:</a:t>
            </a:r>
          </a:p>
          <a:p>
            <a:pPr>
              <a:buNone/>
            </a:pPr>
            <a:endParaRPr lang="en-US" b="1" dirty="0"/>
          </a:p>
          <a:p>
            <a:pPr>
              <a:buNone/>
            </a:pPr>
            <a:r>
              <a:rPr lang="en-US" sz="2000" b="1" dirty="0"/>
              <a:t>1. Background :</a:t>
            </a:r>
          </a:p>
          <a:p>
            <a:pPr>
              <a:buNone/>
            </a:pPr>
            <a:r>
              <a:rPr lang="en-US" dirty="0"/>
              <a:t>Forecasting financial time-series data has been an important area of research due to its practical applications in decision-making, investment planning, and risk management. Bitcoin, being the most popular cryptocurrency, has gained significant attention because of its high volatility and rapid fluctuations in price. Unlike traditional assets, Bitcoin is influenced by a combination of factors such as market demand, supply, investor sentiment, and global economic conditions. This volatility makes accurate price prediction both challenging and essential for traders and researchers.</a:t>
            </a:r>
          </a:p>
          <a:p>
            <a:pPr>
              <a:buNone/>
            </a:pPr>
            <a:r>
              <a:rPr lang="en-US" dirty="0"/>
              <a:t>Early approaches to time-series forecasting relied heavily on </a:t>
            </a:r>
            <a:r>
              <a:rPr lang="en-US" b="1" dirty="0"/>
              <a:t>statistical models</a:t>
            </a:r>
            <a:r>
              <a:rPr lang="en-US" dirty="0"/>
              <a:t> such as </a:t>
            </a:r>
            <a:r>
              <a:rPr lang="en-US" b="1" dirty="0"/>
              <a:t>Autoregressive Integrated Moving Average (ARIMA)</a:t>
            </a:r>
            <a:r>
              <a:rPr lang="en-US" dirty="0"/>
              <a:t>, Exponential Smoothing, and Generalized Autoregressive Conditional Heteroskedasticity (GARCH). While these methods are simple and interpretable, they assume linearity and stationarity, which limits their ability to handle the highly non-linear and dynamic nature of cryptocurrency prices.</a:t>
            </a:r>
          </a:p>
          <a:p>
            <a:pPr>
              <a:buNone/>
            </a:pPr>
            <a:r>
              <a:rPr lang="en-US" dirty="0"/>
              <a:t>To overcome these shortcomings, </a:t>
            </a:r>
            <a:r>
              <a:rPr lang="en-US" b="1" dirty="0"/>
              <a:t>machine learning approaches</a:t>
            </a:r>
            <a:r>
              <a:rPr lang="en-US" dirty="0"/>
              <a:t> such as Support Vector Machines (SVM), Random Forests, and Gradient Boosted Trees were applied to financial forecasting. These models perform better than traditional methods because they can capture some non-linear relationships. However, they rely heavily on feature engineering, which is time-consuming and requires domain expertise.</a:t>
            </a:r>
          </a:p>
          <a:p>
            <a:pPr>
              <a:buNone/>
            </a:pPr>
            <a:r>
              <a:rPr lang="en-US" dirty="0"/>
              <a:t>With the advancement of deep learning, researchers began exploring </a:t>
            </a:r>
            <a:r>
              <a:rPr lang="en-US" b="1" dirty="0"/>
              <a:t>Recurrent Neural Networks (RNNs)</a:t>
            </a:r>
            <a:r>
              <a:rPr lang="en-US" dirty="0"/>
              <a:t>, particularly </a:t>
            </a:r>
            <a:r>
              <a:rPr lang="en-US" b="1" dirty="0"/>
              <a:t>Long Short-Term Memory (LSTM) networks</a:t>
            </a:r>
            <a:r>
              <a:rPr lang="en-US" dirty="0"/>
              <a:t>, for financial time-series forecasting. LSTMs are well-suited for sequence data because they can capture long-term dependencies and temporal patterns, making them highly effective for volatile markets like cryptocurrency.</a:t>
            </a:r>
          </a:p>
        </p:txBody>
      </p:sp>
    </p:spTree>
    <p:extLst>
      <p:ext uri="{BB962C8B-B14F-4D97-AF65-F5344CB8AC3E}">
        <p14:creationId xmlns:p14="http://schemas.microsoft.com/office/powerpoint/2010/main" val="34787681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C105731-CA06-2A36-EE8A-E77FA7CD5662}"/>
              </a:ext>
            </a:extLst>
          </p:cNvPr>
          <p:cNvSpPr txBox="1"/>
          <p:nvPr/>
        </p:nvSpPr>
        <p:spPr>
          <a:xfrm>
            <a:off x="246743" y="319314"/>
            <a:ext cx="11611428" cy="5355312"/>
          </a:xfrm>
          <a:prstGeom prst="rect">
            <a:avLst/>
          </a:prstGeom>
          <a:noFill/>
        </p:spPr>
        <p:txBody>
          <a:bodyPr wrap="square">
            <a:spAutoFit/>
          </a:bodyPr>
          <a:lstStyle/>
          <a:p>
            <a:pPr>
              <a:buNone/>
            </a:pPr>
            <a:r>
              <a:rPr lang="en-US" sz="2400" b="1" dirty="0"/>
              <a:t>2. Existing Solutions in Literature:</a:t>
            </a:r>
          </a:p>
          <a:p>
            <a:pPr>
              <a:buNone/>
            </a:pPr>
            <a:endParaRPr lang="en-US" b="1" dirty="0"/>
          </a:p>
          <a:p>
            <a:pPr>
              <a:buNone/>
            </a:pPr>
            <a:r>
              <a:rPr lang="en-US" sz="2000" dirty="0"/>
              <a:t>Several studies have demonstrated the effectiveness of LSTM and related models in handling time-series data:</a:t>
            </a:r>
          </a:p>
          <a:p>
            <a:pPr>
              <a:buFont typeface="Arial" panose="020B0604020202020204" pitchFamily="34" charset="0"/>
              <a:buChar char="•"/>
            </a:pPr>
            <a:r>
              <a:rPr lang="en-US" sz="2000" b="1" dirty="0"/>
              <a:t>Difference-Guided Representation Learning Network (Ma et al., 2022):</a:t>
            </a:r>
            <a:r>
              <a:rPr lang="en-US" sz="2000" dirty="0"/>
              <a:t> This study proposed a novel approach to model temporal differences in multivariate time-series data. The authors used a difference-gated LSTM to capture dynamic evolution and improve feature representation, showing that such architectures outperform traditional multivariate models.</a:t>
            </a:r>
          </a:p>
          <a:p>
            <a:pPr>
              <a:buFont typeface="Arial" panose="020B0604020202020204" pitchFamily="34" charset="0"/>
              <a:buChar char="•"/>
            </a:pPr>
            <a:r>
              <a:rPr lang="en-US" sz="2000" b="1" dirty="0"/>
              <a:t>LSTM for InSAR Anomaly Detection (Kulshrestha et al., 2022):</a:t>
            </a:r>
            <a:r>
              <a:rPr lang="en-US" sz="2000" dirty="0"/>
              <a:t> This work demonstrated the effectiveness of LSTMs for detecting anomalies in time-series data related to geospatial deformation. By applying stacked LSTM architectures, the study highlighted how these models can capture subtle sequential patterns in large and complex datasets.</a:t>
            </a:r>
          </a:p>
          <a:p>
            <a:pPr>
              <a:buFont typeface="Arial" panose="020B0604020202020204" pitchFamily="34" charset="0"/>
              <a:buChar char="•"/>
            </a:pPr>
            <a:r>
              <a:rPr lang="en-US" sz="2000" b="1" dirty="0"/>
              <a:t>Adversarial Joint-Learning RNN (Li et al., 2022):</a:t>
            </a:r>
            <a:r>
              <a:rPr lang="en-US" sz="2000" dirty="0"/>
              <a:t> This research tackled the issue of incomplete time-series data, where missing values reduce prediction accuracy. The authors combined imputation and classification using an adversarial framework, thereby improving robustness and performance in real-world datasets.</a:t>
            </a:r>
          </a:p>
          <a:p>
            <a:pPr>
              <a:buFont typeface="Arial" panose="020B0604020202020204" pitchFamily="34" charset="0"/>
              <a:buChar char="•"/>
            </a:pPr>
            <a:endParaRPr lang="en-US" sz="2000" dirty="0"/>
          </a:p>
          <a:p>
            <a:pPr>
              <a:buFont typeface="Arial" panose="020B0604020202020204" pitchFamily="34" charset="0"/>
              <a:buChar char="•"/>
            </a:pPr>
            <a:r>
              <a:rPr lang="en-US" sz="2000" dirty="0"/>
              <a:t>These works collectively highlight the adaptability and strength of LSTMs in learning temporal dependencies, even in noisy and irregular datasets.</a:t>
            </a:r>
          </a:p>
        </p:txBody>
      </p:sp>
    </p:spTree>
    <p:extLst>
      <p:ext uri="{BB962C8B-B14F-4D97-AF65-F5344CB8AC3E}">
        <p14:creationId xmlns:p14="http://schemas.microsoft.com/office/powerpoint/2010/main" val="5961233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D350B6E-5769-108D-F5A8-27D9BDDE10FA}"/>
              </a:ext>
            </a:extLst>
          </p:cNvPr>
          <p:cNvSpPr txBox="1"/>
          <p:nvPr/>
        </p:nvSpPr>
        <p:spPr>
          <a:xfrm>
            <a:off x="145142" y="307991"/>
            <a:ext cx="11611429" cy="5355312"/>
          </a:xfrm>
          <a:prstGeom prst="rect">
            <a:avLst/>
          </a:prstGeom>
          <a:noFill/>
        </p:spPr>
        <p:txBody>
          <a:bodyPr wrap="square">
            <a:spAutoFit/>
          </a:bodyPr>
          <a:lstStyle/>
          <a:p>
            <a:pPr>
              <a:buNone/>
            </a:pPr>
            <a:r>
              <a:rPr lang="en-US" sz="2400" b="1" dirty="0"/>
              <a:t>3. Gaps in Existing Research:</a:t>
            </a:r>
          </a:p>
          <a:p>
            <a:pPr>
              <a:buNone/>
            </a:pPr>
            <a:endParaRPr lang="en-US" b="1" dirty="0"/>
          </a:p>
          <a:p>
            <a:pPr>
              <a:buNone/>
            </a:pPr>
            <a:r>
              <a:rPr lang="en-US" sz="2000" dirty="0"/>
              <a:t>While LSTM-based approaches have shown promising results in financial forecasting, several gaps remain:</a:t>
            </a:r>
          </a:p>
          <a:p>
            <a:pPr>
              <a:buFont typeface="+mj-lt"/>
              <a:buAutoNum type="arabicPeriod"/>
            </a:pPr>
            <a:r>
              <a:rPr lang="en-US" sz="2000" b="1" dirty="0"/>
              <a:t>Limited comparison with baselines:</a:t>
            </a:r>
            <a:r>
              <a:rPr lang="en-US" sz="2000" dirty="0"/>
              <a:t> Many studies focus solely on deep learning models without benchmarking against classical forecasting techniques such as ARIMA, Prophet, or naive methods. Without baselines, it is difficult to quantify the true improvement gained by using deep models.</a:t>
            </a:r>
          </a:p>
          <a:p>
            <a:pPr>
              <a:buFont typeface="+mj-lt"/>
              <a:buAutoNum type="arabicPeriod"/>
            </a:pPr>
            <a:r>
              <a:rPr lang="en-US" sz="2000" b="1" dirty="0"/>
              <a:t>Narrow feature selection:</a:t>
            </a:r>
            <a:r>
              <a:rPr lang="en-US" sz="2000" dirty="0"/>
              <a:t> Most models rely only on historical price features such as open, high, low, and close values. They often ignore external or exogenous variables like trading volume, market sentiment, or macroeconomic indicators, which could significantly improve prediction accuracy.</a:t>
            </a:r>
          </a:p>
          <a:p>
            <a:pPr>
              <a:buFont typeface="+mj-lt"/>
              <a:buAutoNum type="arabicPeriod"/>
            </a:pPr>
            <a:r>
              <a:rPr lang="en-US" sz="2000" b="1" dirty="0"/>
              <a:t>Evaluation practices:</a:t>
            </a:r>
            <a:r>
              <a:rPr lang="en-US" sz="2000" dirty="0"/>
              <a:t> Simple train-test splits are commonly used, but they may not reflect real-world performance. More rigorous approaches such as </a:t>
            </a:r>
            <a:r>
              <a:rPr lang="en-US" sz="2000" b="1" dirty="0"/>
              <a:t>walk-forward validation</a:t>
            </a:r>
            <a:r>
              <a:rPr lang="en-US" sz="2000" dirty="0"/>
              <a:t> or </a:t>
            </a:r>
            <a:r>
              <a:rPr lang="en-US" sz="2000" b="1" dirty="0"/>
              <a:t>rolling-window evaluation</a:t>
            </a:r>
            <a:r>
              <a:rPr lang="en-US" sz="2000" dirty="0"/>
              <a:t> are rarely adopted, leading to overly optimistic results.</a:t>
            </a:r>
          </a:p>
          <a:p>
            <a:pPr>
              <a:buFont typeface="+mj-lt"/>
              <a:buAutoNum type="arabicPeriod"/>
            </a:pPr>
            <a:r>
              <a:rPr lang="en-US" sz="2000" b="1" dirty="0"/>
              <a:t>Reproducibility and experiment tracking:</a:t>
            </a:r>
            <a:r>
              <a:rPr lang="en-US" sz="2000" dirty="0"/>
              <a:t> Many implementations lack consistent logging of experiments, hyperparameters, and results. This reduces reproducibility and makes it difficult to compare across models.</a:t>
            </a:r>
          </a:p>
          <a:p>
            <a:pPr>
              <a:buFont typeface="+mj-lt"/>
              <a:buAutoNum type="arabicPeriod"/>
            </a:pPr>
            <a:r>
              <a:rPr lang="en-US" sz="2000" b="1" dirty="0"/>
              <a:t>Model robustness and explainability:</a:t>
            </a:r>
            <a:r>
              <a:rPr lang="en-US" sz="2000" dirty="0"/>
              <a:t> Although LSTMs provide good predictions, they are often treated as black boxes. Few works include explainability tools like SHAP values or sensitivity analysis to understand model behavior.</a:t>
            </a:r>
          </a:p>
        </p:txBody>
      </p:sp>
    </p:spTree>
    <p:extLst>
      <p:ext uri="{BB962C8B-B14F-4D97-AF65-F5344CB8AC3E}">
        <p14:creationId xmlns:p14="http://schemas.microsoft.com/office/powerpoint/2010/main" val="459654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596F1FC-590E-98A7-E6D9-89F0110CF6E1}"/>
              </a:ext>
            </a:extLst>
          </p:cNvPr>
          <p:cNvSpPr txBox="1"/>
          <p:nvPr/>
        </p:nvSpPr>
        <p:spPr>
          <a:xfrm>
            <a:off x="304799" y="333829"/>
            <a:ext cx="11509829" cy="3908762"/>
          </a:xfrm>
          <a:prstGeom prst="rect">
            <a:avLst/>
          </a:prstGeom>
          <a:noFill/>
        </p:spPr>
        <p:txBody>
          <a:bodyPr wrap="square">
            <a:spAutoFit/>
          </a:bodyPr>
          <a:lstStyle/>
          <a:p>
            <a:pPr>
              <a:buNone/>
            </a:pPr>
            <a:r>
              <a:rPr lang="en-US" sz="2400" b="1" dirty="0"/>
              <a:t>4. Positioning of This Project:</a:t>
            </a:r>
          </a:p>
          <a:p>
            <a:pPr>
              <a:buNone/>
            </a:pPr>
            <a:endParaRPr lang="en-US" sz="2400" b="1" dirty="0"/>
          </a:p>
          <a:p>
            <a:pPr>
              <a:buNone/>
            </a:pPr>
            <a:r>
              <a:rPr lang="en-US" sz="2000" dirty="0"/>
              <a:t>This project aims to address the problem of Bitcoin price prediction by implementing two LSTM-based approaches:</a:t>
            </a:r>
          </a:p>
          <a:p>
            <a:pPr>
              <a:buFont typeface="Arial" panose="020B0604020202020204" pitchFamily="34" charset="0"/>
              <a:buChar char="•"/>
            </a:pPr>
            <a:r>
              <a:rPr lang="en-US" sz="2000" b="1" dirty="0"/>
              <a:t>Univariate LSTM model</a:t>
            </a:r>
            <a:r>
              <a:rPr lang="en-US" sz="2000" dirty="0"/>
              <a:t> that uses past closing prices to predict the next day’s price.</a:t>
            </a:r>
          </a:p>
          <a:p>
            <a:pPr>
              <a:buFont typeface="Arial" panose="020B0604020202020204" pitchFamily="34" charset="0"/>
              <a:buChar char="•"/>
            </a:pPr>
            <a:r>
              <a:rPr lang="en-US" sz="2000" b="1" dirty="0"/>
              <a:t>Multivariate LSTM model</a:t>
            </a:r>
            <a:r>
              <a:rPr lang="en-US" sz="2000" dirty="0"/>
              <a:t> that incorporates multiple features such as open, high, low, close, and adjusted close values.</a:t>
            </a:r>
          </a:p>
          <a:p>
            <a:pPr>
              <a:buNone/>
            </a:pPr>
            <a:r>
              <a:rPr lang="en-US" sz="2000" dirty="0"/>
              <a:t>By comparing these two models, the project demonstrates the importance of inter-variable dependencies in improving forecasting accuracy. The dataset is collected from </a:t>
            </a:r>
            <a:r>
              <a:rPr lang="en-US" sz="2000" b="1" dirty="0"/>
              <a:t>Yahoo Finance</a:t>
            </a:r>
            <a:r>
              <a:rPr lang="en-US" sz="2000" dirty="0"/>
              <a:t>, and the models are evaluated using </a:t>
            </a:r>
            <a:r>
              <a:rPr lang="en-US" sz="2000" b="1" dirty="0"/>
              <a:t>RMSE, MAE, and R² metrics</a:t>
            </a:r>
            <a:r>
              <a:rPr lang="en-US" sz="2000" dirty="0"/>
              <a:t>.</a:t>
            </a:r>
          </a:p>
          <a:p>
            <a:pPr>
              <a:buNone/>
            </a:pPr>
            <a:r>
              <a:rPr lang="en-US" sz="2000" dirty="0"/>
              <a:t>While the project focuses primarily on LSTM networks, it lays the foundation for future work to incorporate external factors, experiment tracking across both models, and evaluation against classical baselines.</a:t>
            </a:r>
          </a:p>
        </p:txBody>
      </p:sp>
      <p:sp>
        <p:nvSpPr>
          <p:cNvPr id="7" name="TextBox 6">
            <a:extLst>
              <a:ext uri="{FF2B5EF4-FFF2-40B4-BE49-F238E27FC236}">
                <a16:creationId xmlns:a16="http://schemas.microsoft.com/office/drawing/2014/main" id="{5E68F57C-AF24-6E2E-8046-D3035B49DFE9}"/>
              </a:ext>
            </a:extLst>
          </p:cNvPr>
          <p:cNvSpPr txBox="1"/>
          <p:nvPr/>
        </p:nvSpPr>
        <p:spPr>
          <a:xfrm>
            <a:off x="304799" y="4246624"/>
            <a:ext cx="11277601" cy="2277547"/>
          </a:xfrm>
          <a:prstGeom prst="rect">
            <a:avLst/>
          </a:prstGeom>
          <a:noFill/>
        </p:spPr>
        <p:txBody>
          <a:bodyPr wrap="square">
            <a:spAutoFit/>
          </a:bodyPr>
          <a:lstStyle/>
          <a:p>
            <a:pPr>
              <a:buNone/>
            </a:pPr>
            <a:r>
              <a:rPr lang="en-US" sz="2400" b="1" dirty="0"/>
              <a:t>5. Summary:</a:t>
            </a:r>
          </a:p>
          <a:p>
            <a:pPr>
              <a:buNone/>
            </a:pPr>
            <a:endParaRPr lang="en-US" b="1" dirty="0"/>
          </a:p>
          <a:p>
            <a:pPr>
              <a:buNone/>
            </a:pPr>
            <a:r>
              <a:rPr lang="en-US" sz="2000" dirty="0"/>
              <a:t>In summary, existing literature strongly supports the use of deep learning, particularly LSTM networks, for time-series forecasting tasks. However, most works lack baseline comparisons, extended feature sets, and robust evaluation strategies. This project contributes to the field by applying and comparing both univariate and multivariate LSTM models to Bitcoin forecasting, showing that the multivariate approach achieves superior performance by exploiting inter-variable relationships.</a:t>
            </a:r>
          </a:p>
        </p:txBody>
      </p:sp>
    </p:spTree>
    <p:extLst>
      <p:ext uri="{BB962C8B-B14F-4D97-AF65-F5344CB8AC3E}">
        <p14:creationId xmlns:p14="http://schemas.microsoft.com/office/powerpoint/2010/main" val="35003806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685A01D-5CD3-7EA2-F347-22F1CCC944E1}"/>
              </a:ext>
            </a:extLst>
          </p:cNvPr>
          <p:cNvSpPr txBox="1"/>
          <p:nvPr/>
        </p:nvSpPr>
        <p:spPr>
          <a:xfrm>
            <a:off x="377371" y="1170471"/>
            <a:ext cx="11379200" cy="4124206"/>
          </a:xfrm>
          <a:prstGeom prst="rect">
            <a:avLst/>
          </a:prstGeom>
          <a:noFill/>
        </p:spPr>
        <p:txBody>
          <a:bodyPr wrap="square">
            <a:spAutoFit/>
          </a:bodyPr>
          <a:lstStyle/>
          <a:p>
            <a:pPr>
              <a:buNone/>
            </a:pPr>
            <a:r>
              <a:rPr lang="en-IN" sz="2400" b="1" dirty="0"/>
              <a:t>References:</a:t>
            </a:r>
          </a:p>
          <a:p>
            <a:pPr>
              <a:buNone/>
            </a:pPr>
            <a:endParaRPr lang="en-IN" dirty="0"/>
          </a:p>
          <a:p>
            <a:pPr>
              <a:buFont typeface="+mj-lt"/>
              <a:buAutoNum type="arabicPeriod"/>
            </a:pPr>
            <a:r>
              <a:rPr lang="en-IN" sz="2000" dirty="0"/>
              <a:t>Q. Ma, Z. Chen, S. Tian, and W. W. Y. Ng, “Difference-Guided Representation Learning Network for Multivariate Time-Series Classification,” </a:t>
            </a:r>
            <a:r>
              <a:rPr lang="en-IN" sz="2000" i="1" dirty="0"/>
              <a:t>IEEE Transactions on Cybernetics</a:t>
            </a:r>
            <a:r>
              <a:rPr lang="en-IN" sz="2000" dirty="0"/>
              <a:t>, vol. 52, no. 6, pp. 4717–4727, June 2022.</a:t>
            </a:r>
          </a:p>
          <a:p>
            <a:pPr>
              <a:buFont typeface="+mj-lt"/>
              <a:buAutoNum type="arabicPeriod"/>
            </a:pPr>
            <a:r>
              <a:rPr lang="en-IN" sz="2000" dirty="0"/>
              <a:t>A. Kulshrestha, L. Chang, and A. Stein, “Use of LSTM for Sinkhole-Related Anomaly Detection and Classification of InSAR Deformation Time Series,” </a:t>
            </a:r>
            <a:r>
              <a:rPr lang="en-IN" sz="2000" i="1" dirty="0"/>
              <a:t>IEEE Journal of Selected Topics in Applied Earth Observations and Remote Sensing</a:t>
            </a:r>
            <a:r>
              <a:rPr lang="en-IN" sz="2000" dirty="0"/>
              <a:t>, vol. 15, pp. 4559–4570, 2022.</a:t>
            </a:r>
          </a:p>
          <a:p>
            <a:pPr>
              <a:buFont typeface="+mj-lt"/>
              <a:buAutoNum type="arabicPeriod"/>
            </a:pPr>
            <a:r>
              <a:rPr lang="en-IN" sz="2000" dirty="0"/>
              <a:t>S. Li, Q. Ma, and G. W. Cottrell, “Adversarial Joint-Learning Recurrent Neural Network for Incomplete Time Series Classification,” </a:t>
            </a:r>
            <a:r>
              <a:rPr lang="en-IN" sz="2000" i="1" dirty="0"/>
              <a:t>IEEE Transactions on Pattern Analysis and Machine Intelligence</a:t>
            </a:r>
            <a:r>
              <a:rPr lang="en-IN" sz="2000" dirty="0"/>
              <a:t>, vol. 44, no. 4, pp. 1765–1776, April 2022.</a:t>
            </a:r>
          </a:p>
          <a:p>
            <a:pPr>
              <a:buFont typeface="+mj-lt"/>
              <a:buAutoNum type="arabicPeriod"/>
            </a:pPr>
            <a:r>
              <a:rPr lang="en-IN" sz="2000" dirty="0"/>
              <a:t>Yahoo Finance, “Bitcoin Historical Data (BTC-USD),” Available at: </a:t>
            </a:r>
            <a:r>
              <a:rPr lang="en-IN" sz="2000" dirty="0">
                <a:hlinkClick r:id="rId2"/>
              </a:rPr>
              <a:t>https://finance.yahoo.com/quote/BTC-USD/</a:t>
            </a:r>
            <a:endParaRPr lang="en-IN" sz="2000" dirty="0"/>
          </a:p>
        </p:txBody>
      </p:sp>
    </p:spTree>
    <p:extLst>
      <p:ext uri="{BB962C8B-B14F-4D97-AF65-F5344CB8AC3E}">
        <p14:creationId xmlns:p14="http://schemas.microsoft.com/office/powerpoint/2010/main" val="23996824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05E38C2-C3E9-C9F2-C59A-41B2920DE13D}"/>
              </a:ext>
            </a:extLst>
          </p:cNvPr>
          <p:cNvSpPr txBox="1"/>
          <p:nvPr/>
        </p:nvSpPr>
        <p:spPr>
          <a:xfrm>
            <a:off x="319314" y="140463"/>
            <a:ext cx="11553371" cy="6247864"/>
          </a:xfrm>
          <a:prstGeom prst="rect">
            <a:avLst/>
          </a:prstGeom>
          <a:noFill/>
        </p:spPr>
        <p:txBody>
          <a:bodyPr wrap="square">
            <a:spAutoFit/>
          </a:bodyPr>
          <a:lstStyle/>
          <a:p>
            <a:pPr>
              <a:buNone/>
            </a:pPr>
            <a:r>
              <a:rPr lang="en-US" sz="2000" b="1" dirty="0"/>
              <a:t>Methodology and Proposed Approach:</a:t>
            </a:r>
          </a:p>
          <a:p>
            <a:pPr>
              <a:buNone/>
            </a:pPr>
            <a:endParaRPr lang="en-US" b="1" dirty="0"/>
          </a:p>
          <a:p>
            <a:pPr>
              <a:buNone/>
            </a:pPr>
            <a:r>
              <a:rPr lang="en-US" b="1" dirty="0"/>
              <a:t>1. Methodology</a:t>
            </a:r>
          </a:p>
          <a:p>
            <a:pPr>
              <a:buNone/>
            </a:pPr>
            <a:r>
              <a:rPr lang="en-US" b="1" dirty="0"/>
              <a:t>🔹 Data Collection and Preprocessing</a:t>
            </a:r>
          </a:p>
          <a:p>
            <a:pPr>
              <a:buFont typeface="Arial" panose="020B0604020202020204" pitchFamily="34" charset="0"/>
              <a:buChar char="•"/>
            </a:pPr>
            <a:r>
              <a:rPr lang="en-US" b="1" dirty="0"/>
              <a:t>Dataset Source:</a:t>
            </a:r>
            <a:r>
              <a:rPr lang="en-US" dirty="0"/>
              <a:t> Historical Bitcoin data (BTC-USD) collected from Yahoo Finance (2014–2023).</a:t>
            </a:r>
          </a:p>
          <a:p>
            <a:pPr>
              <a:buFont typeface="Arial" panose="020B0604020202020204" pitchFamily="34" charset="0"/>
              <a:buChar char="•"/>
            </a:pPr>
            <a:r>
              <a:rPr lang="en-US" b="1" dirty="0"/>
              <a:t>Features:</a:t>
            </a:r>
            <a:r>
              <a:rPr lang="en-US" dirty="0"/>
              <a:t> Open, High, Low, Close, Adjusted Close, and Volume.</a:t>
            </a:r>
          </a:p>
          <a:p>
            <a:pPr>
              <a:buFont typeface="Arial" panose="020B0604020202020204" pitchFamily="34" charset="0"/>
              <a:buChar char="•"/>
            </a:pPr>
            <a:r>
              <a:rPr lang="en-US" b="1" dirty="0"/>
              <a:t>Preprocessing Steps:</a:t>
            </a:r>
            <a:endParaRPr lang="en-US" dirty="0"/>
          </a:p>
          <a:p>
            <a:pPr marL="742950" lvl="1" indent="-285750">
              <a:buFont typeface="Arial" panose="020B0604020202020204" pitchFamily="34" charset="0"/>
              <a:buChar char="•"/>
            </a:pPr>
            <a:r>
              <a:rPr lang="en-US" dirty="0"/>
              <a:t>Converted dates into proper time-series format.</a:t>
            </a:r>
          </a:p>
          <a:p>
            <a:pPr marL="742950" lvl="1" indent="-285750">
              <a:buFont typeface="Arial" panose="020B0604020202020204" pitchFamily="34" charset="0"/>
              <a:buChar char="•"/>
            </a:pPr>
            <a:r>
              <a:rPr lang="en-US" dirty="0"/>
              <a:t>Applied </a:t>
            </a:r>
            <a:r>
              <a:rPr lang="en-US" b="1" dirty="0" err="1"/>
              <a:t>MinMaxScaler</a:t>
            </a:r>
            <a:r>
              <a:rPr lang="en-US" dirty="0"/>
              <a:t> (for univariate) and </a:t>
            </a:r>
            <a:r>
              <a:rPr lang="en-US" b="1" dirty="0" err="1"/>
              <a:t>StandardScaler</a:t>
            </a:r>
            <a:r>
              <a:rPr lang="en-US" dirty="0"/>
              <a:t> (for multivariate) for normalization.</a:t>
            </a:r>
          </a:p>
          <a:p>
            <a:pPr marL="742950" lvl="1" indent="-285750">
              <a:buFont typeface="Arial" panose="020B0604020202020204" pitchFamily="34" charset="0"/>
              <a:buChar char="•"/>
            </a:pPr>
            <a:r>
              <a:rPr lang="en-US" dirty="0"/>
              <a:t>Created input-output pairs using a </a:t>
            </a:r>
            <a:r>
              <a:rPr lang="en-US" b="1" dirty="0"/>
              <a:t>sliding window of 15 days</a:t>
            </a:r>
            <a:r>
              <a:rPr lang="en-US" dirty="0"/>
              <a:t> (past data) to predict the next day’s price.</a:t>
            </a:r>
          </a:p>
          <a:p>
            <a:pPr>
              <a:buNone/>
            </a:pPr>
            <a:br>
              <a:rPr lang="en-US" dirty="0"/>
            </a:br>
            <a:endParaRPr lang="en-US" dirty="0"/>
          </a:p>
          <a:p>
            <a:pPr>
              <a:buNone/>
            </a:pPr>
            <a:r>
              <a:rPr lang="en-US" b="1" dirty="0"/>
              <a:t> </a:t>
            </a:r>
            <a:r>
              <a:rPr lang="en-US" sz="2000" b="1" dirty="0"/>
              <a:t>Model Development:</a:t>
            </a:r>
          </a:p>
          <a:p>
            <a:pPr>
              <a:buNone/>
            </a:pPr>
            <a:endParaRPr lang="en-US" b="1" dirty="0"/>
          </a:p>
          <a:p>
            <a:pPr>
              <a:buFont typeface="+mj-lt"/>
              <a:buAutoNum type="arabicPeriod"/>
            </a:pPr>
            <a:r>
              <a:rPr lang="en-US" b="1" dirty="0"/>
              <a:t>Univariate LSTM (</a:t>
            </a:r>
            <a:r>
              <a:rPr lang="en-US" b="1" dirty="0" err="1"/>
              <a:t>PyTorch</a:t>
            </a:r>
            <a:r>
              <a:rPr lang="en-US" b="1" dirty="0"/>
              <a:t>):</a:t>
            </a:r>
            <a:endParaRPr lang="en-US" dirty="0"/>
          </a:p>
          <a:p>
            <a:pPr marL="742950" lvl="1" indent="-285750">
              <a:buFont typeface="+mj-lt"/>
              <a:buAutoNum type="arabicPeriod"/>
            </a:pPr>
            <a:r>
              <a:rPr lang="en-US" dirty="0"/>
              <a:t>Input: Past 15 days’ closing prices.</a:t>
            </a:r>
          </a:p>
          <a:p>
            <a:pPr marL="742950" lvl="1" indent="-285750">
              <a:buFont typeface="+mj-lt"/>
              <a:buAutoNum type="arabicPeriod"/>
            </a:pPr>
            <a:r>
              <a:rPr lang="en-US" dirty="0"/>
              <a:t>Model: One LSTM layer followed by a fully connected layer.</a:t>
            </a:r>
          </a:p>
          <a:p>
            <a:pPr marL="742950" lvl="1" indent="-285750">
              <a:buFont typeface="+mj-lt"/>
              <a:buAutoNum type="arabicPeriod"/>
            </a:pPr>
            <a:r>
              <a:rPr lang="en-US" dirty="0"/>
              <a:t>Logging: </a:t>
            </a:r>
            <a:r>
              <a:rPr lang="en-US" dirty="0" err="1"/>
              <a:t>MLflow</a:t>
            </a:r>
            <a:r>
              <a:rPr lang="en-US" dirty="0"/>
              <a:t> used for hyperparameter tuning and experiment tracking.</a:t>
            </a:r>
          </a:p>
          <a:p>
            <a:pPr>
              <a:buFont typeface="+mj-lt"/>
              <a:buAutoNum type="arabicPeriod"/>
            </a:pPr>
            <a:r>
              <a:rPr lang="en-US" b="1" dirty="0"/>
              <a:t>Multivariate LSTM (TensorFlow/</a:t>
            </a:r>
            <a:r>
              <a:rPr lang="en-US" b="1" dirty="0" err="1"/>
              <a:t>Keras</a:t>
            </a:r>
            <a:r>
              <a:rPr lang="en-US" b="1" dirty="0"/>
              <a:t>):</a:t>
            </a:r>
            <a:endParaRPr lang="en-US" dirty="0"/>
          </a:p>
          <a:p>
            <a:pPr marL="742950" lvl="1" indent="-285750">
              <a:buFont typeface="+mj-lt"/>
              <a:buAutoNum type="arabicPeriod"/>
            </a:pPr>
            <a:r>
              <a:rPr lang="en-US" dirty="0"/>
              <a:t>Input: Past 15 days’ multiple features (Open, High, Low, Close, Adjusted Close).</a:t>
            </a:r>
          </a:p>
          <a:p>
            <a:pPr marL="742950" lvl="1" indent="-285750">
              <a:buFont typeface="+mj-lt"/>
              <a:buAutoNum type="arabicPeriod"/>
            </a:pPr>
            <a:r>
              <a:rPr lang="en-US" dirty="0"/>
              <a:t>Model: Two stacked LSTM layers (64 → 32 units), followed by dropout (0.2) and dense output layer.</a:t>
            </a:r>
          </a:p>
          <a:p>
            <a:pPr marL="742950" lvl="1" indent="-285750">
              <a:buFont typeface="+mj-lt"/>
              <a:buAutoNum type="arabicPeriod"/>
            </a:pPr>
            <a:r>
              <a:rPr lang="en-US" dirty="0"/>
              <a:t>Output: Predicted next-day closing price.</a:t>
            </a:r>
          </a:p>
        </p:txBody>
      </p:sp>
    </p:spTree>
    <p:extLst>
      <p:ext uri="{BB962C8B-B14F-4D97-AF65-F5344CB8AC3E}">
        <p14:creationId xmlns:p14="http://schemas.microsoft.com/office/powerpoint/2010/main" val="35505906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7A181C9-89EC-7B58-80B7-57B1A4E73B7B}"/>
              </a:ext>
            </a:extLst>
          </p:cNvPr>
          <p:cNvSpPr txBox="1"/>
          <p:nvPr/>
        </p:nvSpPr>
        <p:spPr>
          <a:xfrm>
            <a:off x="275772" y="377601"/>
            <a:ext cx="11190514" cy="6586418"/>
          </a:xfrm>
          <a:prstGeom prst="rect">
            <a:avLst/>
          </a:prstGeom>
          <a:noFill/>
        </p:spPr>
        <p:txBody>
          <a:bodyPr wrap="square">
            <a:spAutoFit/>
          </a:bodyPr>
          <a:lstStyle/>
          <a:p>
            <a:pPr>
              <a:buNone/>
            </a:pPr>
            <a:r>
              <a:rPr lang="en-US" sz="2000" b="1" dirty="0"/>
              <a:t>Model Training and Evaluation:</a:t>
            </a:r>
          </a:p>
          <a:p>
            <a:pPr>
              <a:buNone/>
            </a:pPr>
            <a:endParaRPr lang="en-US" sz="2000" b="1" dirty="0"/>
          </a:p>
          <a:p>
            <a:pPr>
              <a:buFont typeface="Arial" panose="020B0604020202020204" pitchFamily="34" charset="0"/>
              <a:buChar char="•"/>
            </a:pPr>
            <a:r>
              <a:rPr lang="en-US" b="1" dirty="0"/>
              <a:t>Training:</a:t>
            </a:r>
            <a:r>
              <a:rPr lang="en-US" dirty="0"/>
              <a:t> 80% of data used for training, 20% for testing.</a:t>
            </a:r>
          </a:p>
          <a:p>
            <a:pPr>
              <a:buFont typeface="Arial" panose="020B0604020202020204" pitchFamily="34" charset="0"/>
              <a:buChar char="•"/>
            </a:pPr>
            <a:r>
              <a:rPr lang="en-US" b="1" dirty="0"/>
              <a:t>Metrics:</a:t>
            </a:r>
            <a:r>
              <a:rPr lang="en-US" dirty="0"/>
              <a:t> Root Mean Square Error (RMSE), Mean Absolute Error (MAE), and R² Score.</a:t>
            </a:r>
          </a:p>
          <a:p>
            <a:pPr>
              <a:buFont typeface="Arial" panose="020B0604020202020204" pitchFamily="34" charset="0"/>
              <a:buChar char="•"/>
            </a:pPr>
            <a:r>
              <a:rPr lang="en-US" b="1" dirty="0"/>
              <a:t>Visualization:</a:t>
            </a:r>
            <a:r>
              <a:rPr lang="en-US" dirty="0"/>
              <a:t> Plots comparing predicted vs actual Bitcoin prices.</a:t>
            </a:r>
          </a:p>
          <a:p>
            <a:pPr>
              <a:buNone/>
            </a:pPr>
            <a:br>
              <a:rPr lang="en-US" dirty="0"/>
            </a:br>
            <a:endParaRPr lang="en-US" dirty="0"/>
          </a:p>
          <a:p>
            <a:pPr>
              <a:buNone/>
            </a:pPr>
            <a:r>
              <a:rPr lang="en-US" sz="2000" b="1" dirty="0"/>
              <a:t>2. Proposed Approach:</a:t>
            </a:r>
          </a:p>
          <a:p>
            <a:pPr>
              <a:buNone/>
            </a:pPr>
            <a:endParaRPr lang="en-US" b="1" dirty="0"/>
          </a:p>
          <a:p>
            <a:pPr>
              <a:buNone/>
            </a:pPr>
            <a:r>
              <a:rPr lang="en-US" dirty="0"/>
              <a:t>The project proposes a </a:t>
            </a:r>
            <a:r>
              <a:rPr lang="en-US" b="1" dirty="0"/>
              <a:t>comparison between Univariate and Multivariate LSTM models</a:t>
            </a:r>
            <a:r>
              <a:rPr lang="en-US" dirty="0"/>
              <a:t> for Bitcoin forecasting:</a:t>
            </a:r>
          </a:p>
          <a:p>
            <a:pPr>
              <a:buFont typeface="Arial" panose="020B0604020202020204" pitchFamily="34" charset="0"/>
              <a:buChar char="•"/>
            </a:pPr>
            <a:r>
              <a:rPr lang="en-US" dirty="0"/>
              <a:t>The </a:t>
            </a:r>
            <a:r>
              <a:rPr lang="en-US" b="1" dirty="0"/>
              <a:t>Univariate approach</a:t>
            </a:r>
            <a:r>
              <a:rPr lang="en-US" dirty="0"/>
              <a:t> tests whether a single feature (closing price) can give reliable predictions.</a:t>
            </a:r>
          </a:p>
          <a:p>
            <a:pPr>
              <a:buFont typeface="Arial" panose="020B0604020202020204" pitchFamily="34" charset="0"/>
              <a:buChar char="•"/>
            </a:pPr>
            <a:r>
              <a:rPr lang="en-US" dirty="0"/>
              <a:t>The </a:t>
            </a:r>
            <a:r>
              <a:rPr lang="en-US" b="1" dirty="0"/>
              <a:t>Multivariate approach</a:t>
            </a:r>
            <a:r>
              <a:rPr lang="en-US" dirty="0"/>
              <a:t> adds more market features to capture inter-variable dependencies.</a:t>
            </a:r>
          </a:p>
          <a:p>
            <a:pPr>
              <a:buNone/>
            </a:pPr>
            <a:r>
              <a:rPr lang="en-US" dirty="0"/>
              <a:t>By evaluating both, the project identifies which method is more effective and feasible for Bitcoin price prediction. Results indicate that the </a:t>
            </a:r>
            <a:r>
              <a:rPr lang="en-US" b="1" dirty="0"/>
              <a:t>Multivariate LSTM significantly reduces error</a:t>
            </a:r>
            <a:r>
              <a:rPr lang="en-US" dirty="0"/>
              <a:t>, making it a more practical solution for real-world forecasting.</a:t>
            </a:r>
          </a:p>
          <a:p>
            <a:pPr>
              <a:buNone/>
            </a:pPr>
            <a:endParaRPr lang="en-US" dirty="0"/>
          </a:p>
          <a:p>
            <a:r>
              <a:rPr lang="en-US" sz="2000" b="1" dirty="0"/>
              <a:t>3. Appropriateness &amp; Feasibility:</a:t>
            </a:r>
          </a:p>
          <a:p>
            <a:endParaRPr lang="en-US" b="1" dirty="0"/>
          </a:p>
          <a:p>
            <a:r>
              <a:rPr lang="en-US" b="1" dirty="0"/>
              <a:t>Appropriateness:</a:t>
            </a:r>
            <a:r>
              <a:rPr lang="en-US" dirty="0"/>
              <a:t> LSTM is suitable because it can capture long-term dependencies in sequential financial data.</a:t>
            </a:r>
          </a:p>
          <a:p>
            <a:r>
              <a:rPr lang="en-US" b="1" dirty="0"/>
              <a:t>Feasibility:</a:t>
            </a:r>
            <a:r>
              <a:rPr lang="en-US" dirty="0"/>
              <a:t> The dataset is publicly available, and the models can be implemented on standard computing resources using Python, TensorFlow, and </a:t>
            </a:r>
            <a:r>
              <a:rPr lang="en-US" dirty="0" err="1"/>
              <a:t>PyTorch</a:t>
            </a:r>
            <a:r>
              <a:rPr lang="en-US" dirty="0"/>
              <a:t>.</a:t>
            </a:r>
          </a:p>
          <a:p>
            <a:r>
              <a:rPr lang="en-US" b="1" dirty="0"/>
              <a:t>Scalability:</a:t>
            </a:r>
            <a:r>
              <a:rPr lang="en-US" dirty="0"/>
              <a:t> The same methodology can be extended to other cryptocurrencies, stocks, or energy consumption data.</a:t>
            </a:r>
          </a:p>
          <a:p>
            <a:pPr>
              <a:buNone/>
            </a:pPr>
            <a:endParaRPr lang="en-US" dirty="0"/>
          </a:p>
        </p:txBody>
      </p:sp>
    </p:spTree>
    <p:extLst>
      <p:ext uri="{BB962C8B-B14F-4D97-AF65-F5344CB8AC3E}">
        <p14:creationId xmlns:p14="http://schemas.microsoft.com/office/powerpoint/2010/main" val="40464255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C087A-764C-FBE7-8ED5-1E03C6253247}"/>
              </a:ext>
            </a:extLst>
          </p:cNvPr>
          <p:cNvSpPr txBox="1"/>
          <p:nvPr/>
        </p:nvSpPr>
        <p:spPr>
          <a:xfrm>
            <a:off x="362857" y="893472"/>
            <a:ext cx="11335657" cy="5016758"/>
          </a:xfrm>
          <a:prstGeom prst="rect">
            <a:avLst/>
          </a:prstGeom>
          <a:noFill/>
        </p:spPr>
        <p:txBody>
          <a:bodyPr wrap="square">
            <a:spAutoFit/>
          </a:bodyPr>
          <a:lstStyle/>
          <a:p>
            <a:pPr>
              <a:buNone/>
            </a:pPr>
            <a:r>
              <a:rPr lang="en-US" sz="2400" b="1" dirty="0"/>
              <a:t>4. Novelty:</a:t>
            </a:r>
          </a:p>
          <a:p>
            <a:pPr>
              <a:buNone/>
            </a:pPr>
            <a:endParaRPr lang="en-US" b="1" dirty="0"/>
          </a:p>
          <a:p>
            <a:pPr>
              <a:buFont typeface="Arial" panose="020B0604020202020204" pitchFamily="34" charset="0"/>
              <a:buChar char="•"/>
            </a:pPr>
            <a:r>
              <a:rPr lang="en-US" sz="2000" dirty="0"/>
              <a:t>Implements and </a:t>
            </a:r>
            <a:r>
              <a:rPr lang="en-US" sz="2000" b="1" dirty="0"/>
              <a:t>compares Univariate and Multivariate LSTM models</a:t>
            </a:r>
            <a:r>
              <a:rPr lang="en-US" sz="2000" dirty="0"/>
              <a:t> for the same dataset.</a:t>
            </a:r>
          </a:p>
          <a:p>
            <a:pPr>
              <a:buFont typeface="Arial" panose="020B0604020202020204" pitchFamily="34" charset="0"/>
              <a:buChar char="•"/>
            </a:pPr>
            <a:r>
              <a:rPr lang="en-US" sz="2000" dirty="0"/>
              <a:t>Uses </a:t>
            </a:r>
            <a:r>
              <a:rPr lang="en-US" sz="2000" b="1" dirty="0" err="1"/>
              <a:t>MLflow</a:t>
            </a:r>
            <a:r>
              <a:rPr lang="en-US" sz="2000" b="1" dirty="0"/>
              <a:t> integration</a:t>
            </a:r>
            <a:r>
              <a:rPr lang="en-US" sz="2000" dirty="0"/>
              <a:t> (in univariate) for hyperparameter tracking, which adds experimental rigor.</a:t>
            </a:r>
          </a:p>
          <a:p>
            <a:pPr>
              <a:buFont typeface="Arial" panose="020B0604020202020204" pitchFamily="34" charset="0"/>
              <a:buChar char="•"/>
            </a:pPr>
            <a:r>
              <a:rPr lang="en-US" sz="2000" dirty="0"/>
              <a:t>Demonstrates how adding multiple features improves forecasting accuracy, showing the importance of inter-variable relationships.</a:t>
            </a:r>
          </a:p>
          <a:p>
            <a:pPr>
              <a:buNone/>
            </a:pPr>
            <a:br>
              <a:rPr lang="en-US" dirty="0"/>
            </a:br>
            <a:endParaRPr lang="en-US" dirty="0"/>
          </a:p>
          <a:p>
            <a:pPr>
              <a:buNone/>
            </a:pPr>
            <a:r>
              <a:rPr lang="en-US" sz="2400" b="1" dirty="0"/>
              <a:t>5. Logical Flow of Work:</a:t>
            </a:r>
          </a:p>
          <a:p>
            <a:pPr>
              <a:buNone/>
            </a:pPr>
            <a:endParaRPr lang="en-US" b="1" dirty="0"/>
          </a:p>
          <a:p>
            <a:pPr>
              <a:buFont typeface="+mj-lt"/>
              <a:buAutoNum type="arabicPeriod"/>
            </a:pPr>
            <a:r>
              <a:rPr lang="en-US" sz="2000" dirty="0"/>
              <a:t>Collect and preprocess Bitcoin dataset.</a:t>
            </a:r>
          </a:p>
          <a:p>
            <a:pPr>
              <a:buFont typeface="+mj-lt"/>
              <a:buAutoNum type="arabicPeriod"/>
            </a:pPr>
            <a:r>
              <a:rPr lang="en-US" sz="2000" dirty="0"/>
              <a:t>Build and train the Univariate LSTM model.</a:t>
            </a:r>
          </a:p>
          <a:p>
            <a:pPr>
              <a:buFont typeface="+mj-lt"/>
              <a:buAutoNum type="arabicPeriod"/>
            </a:pPr>
            <a:r>
              <a:rPr lang="en-US" sz="2000" dirty="0"/>
              <a:t>Build and train the Multivariate LSTM model.</a:t>
            </a:r>
          </a:p>
          <a:p>
            <a:pPr>
              <a:buFont typeface="+mj-lt"/>
              <a:buAutoNum type="arabicPeriod"/>
            </a:pPr>
            <a:r>
              <a:rPr lang="en-US" sz="2000" dirty="0"/>
              <a:t>Evaluate both models using RMSE, MAE, and R².</a:t>
            </a:r>
          </a:p>
          <a:p>
            <a:pPr>
              <a:buFont typeface="+mj-lt"/>
              <a:buAutoNum type="arabicPeriod"/>
            </a:pPr>
            <a:r>
              <a:rPr lang="en-US" sz="2000" dirty="0"/>
              <a:t>Compare results and identify which approach performs better.</a:t>
            </a:r>
          </a:p>
          <a:p>
            <a:pPr>
              <a:buFont typeface="+mj-lt"/>
              <a:buAutoNum type="arabicPeriod"/>
            </a:pPr>
            <a:r>
              <a:rPr lang="en-US" sz="2000" dirty="0"/>
              <a:t>Conclude and suggest extensions for future work.</a:t>
            </a:r>
          </a:p>
        </p:txBody>
      </p:sp>
    </p:spTree>
    <p:extLst>
      <p:ext uri="{BB962C8B-B14F-4D97-AF65-F5344CB8AC3E}">
        <p14:creationId xmlns:p14="http://schemas.microsoft.com/office/powerpoint/2010/main" val="2611601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642C0097-9D93-929C-E0AC-A43122837CFB}"/>
              </a:ext>
            </a:extLst>
          </p:cNvPr>
          <p:cNvSpPr>
            <a:spLocks noChangeArrowheads="1"/>
          </p:cNvSpPr>
          <p:nvPr/>
        </p:nvSpPr>
        <p:spPr bwMode="auto">
          <a:xfrm>
            <a:off x="130627" y="51846"/>
            <a:ext cx="11669487" cy="2000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Project Planning and Timeline:</a:t>
            </a:r>
          </a:p>
          <a:p>
            <a:pPr marL="342900" marR="0" lvl="0" indent="-342900" algn="l" defTabSz="914400" rtl="0" eaLnBrk="0" fontAlgn="base" latinLnBrk="0" hangingPunct="0">
              <a:lnSpc>
                <a:spcPct val="100000"/>
              </a:lnSpc>
              <a:spcBef>
                <a:spcPct val="0"/>
              </a:spcBef>
              <a:spcAft>
                <a:spcPct val="0"/>
              </a:spcAft>
              <a:buClrTx/>
              <a:buSzTx/>
              <a:buFontTx/>
              <a:buAutoNum type="arabicPeriod"/>
              <a:tabLst/>
            </a:pPr>
            <a:r>
              <a:rPr kumimoji="0" lang="en-US" altLang="en-US" b="1" i="0" u="none" strike="noStrike" cap="none" normalizeH="0" baseline="0" dirty="0">
                <a:ln>
                  <a:noFill/>
                </a:ln>
                <a:solidFill>
                  <a:schemeClr val="tx1"/>
                </a:solidFill>
                <a:effectLst/>
                <a:latin typeface="Arial" panose="020B0604020202020204" pitchFamily="34" charset="0"/>
              </a:rPr>
              <a:t>Project Planning:</a:t>
            </a:r>
          </a:p>
          <a:p>
            <a:pPr marL="342900" marR="0" lvl="0" indent="-342900" algn="l" defTabSz="914400" rtl="0" eaLnBrk="0" fontAlgn="base" latinLnBrk="0" hangingPunct="0">
              <a:lnSpc>
                <a:spcPct val="100000"/>
              </a:lnSpc>
              <a:spcBef>
                <a:spcPct val="0"/>
              </a:spcBef>
              <a:spcAft>
                <a:spcPct val="0"/>
              </a:spcAft>
              <a:buClrTx/>
              <a:buSzTx/>
              <a:buFontTx/>
              <a:buAutoNum type="arabicPeriod"/>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The project was divided into multiple phases to ensure systematic progress and timely completion. Each phase focused on specific objectives such as dataset preparation,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 model development, testing, and documentation. By breaking down the work into milestones, the team ensured smooth coordination and efficient use of available time.</a:t>
            </a:r>
          </a:p>
        </p:txBody>
      </p:sp>
      <p:sp>
        <p:nvSpPr>
          <p:cNvPr id="9" name="TextBox 8">
            <a:extLst>
              <a:ext uri="{FF2B5EF4-FFF2-40B4-BE49-F238E27FC236}">
                <a16:creationId xmlns:a16="http://schemas.microsoft.com/office/drawing/2014/main" id="{AB921C44-0299-124B-145E-6752CC44C35B}"/>
              </a:ext>
            </a:extLst>
          </p:cNvPr>
          <p:cNvSpPr txBox="1"/>
          <p:nvPr/>
        </p:nvSpPr>
        <p:spPr>
          <a:xfrm>
            <a:off x="130627" y="2194341"/>
            <a:ext cx="11669486" cy="3600986"/>
          </a:xfrm>
          <a:prstGeom prst="rect">
            <a:avLst/>
          </a:prstGeom>
          <a:noFill/>
        </p:spPr>
        <p:txBody>
          <a:bodyPr wrap="square">
            <a:spAutoFit/>
          </a:bodyPr>
          <a:lstStyle/>
          <a:p>
            <a:pPr>
              <a:buNone/>
            </a:pPr>
            <a:r>
              <a:rPr lang="en-US" sz="2400" b="1" dirty="0"/>
              <a:t>2. Division of Tasks (Example for 3 Team Members):</a:t>
            </a:r>
          </a:p>
          <a:p>
            <a:pPr>
              <a:buNone/>
            </a:pPr>
            <a:endParaRPr lang="en-US" b="1" dirty="0"/>
          </a:p>
          <a:p>
            <a:pPr>
              <a:buFont typeface="Arial" panose="020B0604020202020204" pitchFamily="34" charset="0"/>
              <a:buChar char="•"/>
            </a:pPr>
            <a:r>
              <a:rPr lang="en-US" b="1" dirty="0"/>
              <a:t>Student 1:</a:t>
            </a:r>
            <a:r>
              <a:rPr lang="en-US" dirty="0"/>
              <a:t> Dataset collection, preprocessing, and univariate LSTM implementation.</a:t>
            </a:r>
          </a:p>
          <a:p>
            <a:pPr>
              <a:buFont typeface="Arial" panose="020B0604020202020204" pitchFamily="34" charset="0"/>
              <a:buChar char="•"/>
            </a:pPr>
            <a:r>
              <a:rPr lang="en-US" b="1" dirty="0"/>
              <a:t>Student 2:</a:t>
            </a:r>
            <a:r>
              <a:rPr lang="en-US" dirty="0"/>
              <a:t> Multivariate LSTM development and evaluation metrics.</a:t>
            </a:r>
          </a:p>
          <a:p>
            <a:pPr>
              <a:buFont typeface="Arial" panose="020B0604020202020204" pitchFamily="34" charset="0"/>
              <a:buChar char="•"/>
            </a:pPr>
            <a:r>
              <a:rPr lang="en-US" b="1" dirty="0"/>
              <a:t>Student 3:</a:t>
            </a:r>
            <a:r>
              <a:rPr lang="en-US" dirty="0"/>
              <a:t> Report writing, </a:t>
            </a:r>
            <a:r>
              <a:rPr lang="en-US" dirty="0" err="1"/>
              <a:t>MLflow</a:t>
            </a:r>
            <a:r>
              <a:rPr lang="en-US" dirty="0"/>
              <a:t> integration, result visualization, and presentation preparation.</a:t>
            </a:r>
          </a:p>
          <a:p>
            <a:pPr>
              <a:buNone/>
            </a:pPr>
            <a:br>
              <a:rPr lang="en-US" dirty="0"/>
            </a:br>
            <a:endParaRPr lang="en-US" dirty="0"/>
          </a:p>
          <a:p>
            <a:pPr>
              <a:buNone/>
            </a:pPr>
            <a:r>
              <a:rPr lang="en-US" sz="2400" b="1" dirty="0"/>
              <a:t>3. Feasibility:</a:t>
            </a:r>
          </a:p>
          <a:p>
            <a:pPr>
              <a:buNone/>
            </a:pPr>
            <a:endParaRPr lang="en-US" b="1" dirty="0"/>
          </a:p>
          <a:p>
            <a:pPr>
              <a:buNone/>
            </a:pPr>
            <a:r>
              <a:rPr lang="en-US" dirty="0"/>
              <a:t>The project was structured to be completed within a </a:t>
            </a:r>
            <a:r>
              <a:rPr lang="en-US" b="1" dirty="0"/>
              <a:t>10–11week timeline</a:t>
            </a:r>
            <a:r>
              <a:rPr lang="en-US" dirty="0"/>
              <a:t>, aligning with academic deadlines. The use of publicly available data (Yahoo Finance) and accessible frameworks (</a:t>
            </a:r>
            <a:r>
              <a:rPr lang="en-US" dirty="0" err="1"/>
              <a:t>PyTorch</a:t>
            </a:r>
            <a:r>
              <a:rPr lang="en-US" dirty="0"/>
              <a:t>, TensorFlow, </a:t>
            </a:r>
            <a:r>
              <a:rPr lang="en-US" dirty="0" err="1"/>
              <a:t>MLflow</a:t>
            </a:r>
            <a:r>
              <a:rPr lang="en-US" dirty="0"/>
              <a:t>) ensured the solution was feasible with available computing resources.</a:t>
            </a:r>
          </a:p>
        </p:txBody>
      </p:sp>
    </p:spTree>
    <p:extLst>
      <p:ext uri="{BB962C8B-B14F-4D97-AF65-F5344CB8AC3E}">
        <p14:creationId xmlns:p14="http://schemas.microsoft.com/office/powerpoint/2010/main" val="34318208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723E3F87-7737-AA86-A2AB-681849564EE0}"/>
              </a:ext>
            </a:extLst>
          </p:cNvPr>
          <p:cNvSpPr>
            <a:spLocks noChangeArrowheads="1"/>
          </p:cNvSpPr>
          <p:nvPr/>
        </p:nvSpPr>
        <p:spPr bwMode="auto">
          <a:xfrm>
            <a:off x="404734" y="282788"/>
            <a:ext cx="18771898"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b="1" dirty="0">
                <a:latin typeface="Arial" panose="020B0604020202020204" pitchFamily="34" charset="0"/>
              </a:rPr>
              <a:t>4</a:t>
            </a:r>
            <a:r>
              <a:rPr kumimoji="0" lang="en-US" altLang="en-US" sz="2400" b="1" i="0" u="none" strike="noStrike" cap="none" normalizeH="0" baseline="0" dirty="0">
                <a:ln>
                  <a:noFill/>
                </a:ln>
                <a:solidFill>
                  <a:schemeClr val="tx1"/>
                </a:solidFill>
                <a:effectLst/>
                <a:latin typeface="Arial" panose="020B0604020202020204" pitchFamily="34" charset="0"/>
              </a:rPr>
              <a:t>. Timeline &amp; Milestones: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16" name="Table 15">
            <a:extLst>
              <a:ext uri="{FF2B5EF4-FFF2-40B4-BE49-F238E27FC236}">
                <a16:creationId xmlns:a16="http://schemas.microsoft.com/office/drawing/2014/main" id="{A2C7F179-984B-09B1-4FA9-D206F86A43E6}"/>
              </a:ext>
            </a:extLst>
          </p:cNvPr>
          <p:cNvGraphicFramePr>
            <a:graphicFrameLocks noGrp="1"/>
          </p:cNvGraphicFramePr>
          <p:nvPr>
            <p:extLst>
              <p:ext uri="{D42A27DB-BD31-4B8C-83A1-F6EECF244321}">
                <p14:modId xmlns:p14="http://schemas.microsoft.com/office/powerpoint/2010/main" val="2771696766"/>
              </p:ext>
            </p:extLst>
          </p:nvPr>
        </p:nvGraphicFramePr>
        <p:xfrm>
          <a:off x="404734" y="1004341"/>
          <a:ext cx="10193313" cy="5317720"/>
        </p:xfrm>
        <a:graphic>
          <a:graphicData uri="http://schemas.openxmlformats.org/drawingml/2006/table">
            <a:tbl>
              <a:tblPr/>
              <a:tblGrid>
                <a:gridCol w="3397771">
                  <a:extLst>
                    <a:ext uri="{9D8B030D-6E8A-4147-A177-3AD203B41FA5}">
                      <a16:colId xmlns:a16="http://schemas.microsoft.com/office/drawing/2014/main" val="3843455413"/>
                    </a:ext>
                  </a:extLst>
                </a:gridCol>
                <a:gridCol w="3397771">
                  <a:extLst>
                    <a:ext uri="{9D8B030D-6E8A-4147-A177-3AD203B41FA5}">
                      <a16:colId xmlns:a16="http://schemas.microsoft.com/office/drawing/2014/main" val="4274580397"/>
                    </a:ext>
                  </a:extLst>
                </a:gridCol>
                <a:gridCol w="3397771">
                  <a:extLst>
                    <a:ext uri="{9D8B030D-6E8A-4147-A177-3AD203B41FA5}">
                      <a16:colId xmlns:a16="http://schemas.microsoft.com/office/drawing/2014/main" val="565461207"/>
                    </a:ext>
                  </a:extLst>
                </a:gridCol>
              </a:tblGrid>
              <a:tr h="191560">
                <a:tc>
                  <a:txBody>
                    <a:bodyPr/>
                    <a:lstStyle/>
                    <a:p>
                      <a:pPr>
                        <a:buNone/>
                      </a:pPr>
                      <a:r>
                        <a:rPr lang="en-IN" sz="1200" b="1" dirty="0"/>
                        <a:t>Phase</a:t>
                      </a:r>
                      <a:endParaRPr lang="en-IN" sz="1200" dirty="0"/>
                    </a:p>
                  </a:txBody>
                  <a:tcPr marL="40667" marR="40667" marT="20333" marB="20333" anchor="ctr">
                    <a:lnL>
                      <a:noFill/>
                    </a:lnL>
                    <a:lnR>
                      <a:noFill/>
                    </a:lnR>
                    <a:lnT>
                      <a:noFill/>
                    </a:lnT>
                    <a:lnB>
                      <a:noFill/>
                    </a:lnB>
                    <a:noFill/>
                  </a:tcPr>
                </a:tc>
                <a:tc>
                  <a:txBody>
                    <a:bodyPr/>
                    <a:lstStyle/>
                    <a:p>
                      <a:pPr>
                        <a:buNone/>
                      </a:pPr>
                      <a:r>
                        <a:rPr lang="en-IN" sz="1200" b="1" dirty="0"/>
                        <a:t>Tasks Involved</a:t>
                      </a:r>
                      <a:endParaRPr lang="en-IN" sz="1200" dirty="0"/>
                    </a:p>
                  </a:txBody>
                  <a:tcPr marL="40667" marR="40667" marT="20333" marB="20333" anchor="ctr">
                    <a:lnL>
                      <a:noFill/>
                    </a:lnL>
                    <a:lnR>
                      <a:noFill/>
                    </a:lnR>
                    <a:lnT>
                      <a:noFill/>
                    </a:lnT>
                    <a:lnB>
                      <a:noFill/>
                    </a:lnB>
                    <a:noFill/>
                  </a:tcPr>
                </a:tc>
                <a:tc>
                  <a:txBody>
                    <a:bodyPr/>
                    <a:lstStyle/>
                    <a:p>
                      <a:pPr>
                        <a:buNone/>
                      </a:pPr>
                      <a:r>
                        <a:rPr lang="en-IN" sz="1200" b="1" dirty="0"/>
                        <a:t>Duration</a:t>
                      </a:r>
                      <a:endParaRPr lang="en-IN" sz="1200" dirty="0"/>
                    </a:p>
                  </a:txBody>
                  <a:tcPr marL="40667" marR="40667" marT="20333" marB="20333" anchor="ctr">
                    <a:lnL>
                      <a:noFill/>
                    </a:lnL>
                    <a:lnR>
                      <a:noFill/>
                    </a:lnR>
                    <a:lnT>
                      <a:noFill/>
                    </a:lnT>
                    <a:lnB>
                      <a:noFill/>
                    </a:lnB>
                    <a:noFill/>
                  </a:tcPr>
                </a:tc>
                <a:extLst>
                  <a:ext uri="{0D108BD9-81ED-4DB2-BD59-A6C34878D82A}">
                    <a16:rowId xmlns:a16="http://schemas.microsoft.com/office/drawing/2014/main" val="999501706"/>
                  </a:ext>
                </a:extLst>
              </a:tr>
              <a:tr h="622569">
                <a:tc>
                  <a:txBody>
                    <a:bodyPr/>
                    <a:lstStyle/>
                    <a:p>
                      <a:pPr>
                        <a:buNone/>
                      </a:pPr>
                      <a:r>
                        <a:rPr lang="en-US" sz="1200" b="1" dirty="0"/>
                        <a:t>Phase 1: Problem Study &amp; Literature Review</a:t>
                      </a:r>
                      <a:endParaRPr lang="en-US" sz="1200" dirty="0"/>
                    </a:p>
                  </a:txBody>
                  <a:tcPr marL="40667" marR="40667" marT="20333" marB="20333" anchor="ctr">
                    <a:lnL>
                      <a:noFill/>
                    </a:lnL>
                    <a:lnR>
                      <a:noFill/>
                    </a:lnR>
                    <a:lnT>
                      <a:noFill/>
                    </a:lnT>
                    <a:lnB>
                      <a:noFill/>
                    </a:lnB>
                    <a:noFill/>
                  </a:tcPr>
                </a:tc>
                <a:tc>
                  <a:txBody>
                    <a:bodyPr/>
                    <a:lstStyle/>
                    <a:p>
                      <a:pPr>
                        <a:buNone/>
                      </a:pPr>
                      <a:r>
                        <a:rPr lang="en-US" sz="1200" dirty="0"/>
                        <a:t>- Understanding Bitcoin volatility</a:t>
                      </a:r>
                      <a:br>
                        <a:rPr lang="en-US" sz="1200" dirty="0"/>
                      </a:br>
                      <a:r>
                        <a:rPr lang="en-US" sz="1200" dirty="0"/>
                        <a:t>- Reviewing existing forecasting techniques (ARIMA, ML, DL)</a:t>
                      </a:r>
                      <a:br>
                        <a:rPr lang="en-US" sz="1200" dirty="0"/>
                      </a:br>
                      <a:r>
                        <a:rPr lang="en-US" sz="1200" dirty="0"/>
                        <a:t>- Identifying research gaps</a:t>
                      </a:r>
                    </a:p>
                  </a:txBody>
                  <a:tcPr marL="40667" marR="40667" marT="20333" marB="20333" anchor="ctr">
                    <a:lnL>
                      <a:noFill/>
                    </a:lnL>
                    <a:lnR>
                      <a:noFill/>
                    </a:lnR>
                    <a:lnT>
                      <a:noFill/>
                    </a:lnT>
                    <a:lnB>
                      <a:noFill/>
                    </a:lnB>
                    <a:noFill/>
                  </a:tcPr>
                </a:tc>
                <a:tc>
                  <a:txBody>
                    <a:bodyPr/>
                    <a:lstStyle/>
                    <a:p>
                      <a:pPr>
                        <a:buNone/>
                      </a:pPr>
                      <a:r>
                        <a:rPr lang="en-IN" sz="1200" dirty="0"/>
                        <a:t>Week 1–2</a:t>
                      </a:r>
                    </a:p>
                  </a:txBody>
                  <a:tcPr marL="40667" marR="40667" marT="20333" marB="20333" anchor="ctr">
                    <a:lnL>
                      <a:noFill/>
                    </a:lnL>
                    <a:lnR>
                      <a:noFill/>
                    </a:lnR>
                    <a:lnT>
                      <a:noFill/>
                    </a:lnT>
                    <a:lnB>
                      <a:noFill/>
                    </a:lnB>
                    <a:noFill/>
                  </a:tcPr>
                </a:tc>
                <a:extLst>
                  <a:ext uri="{0D108BD9-81ED-4DB2-BD59-A6C34878D82A}">
                    <a16:rowId xmlns:a16="http://schemas.microsoft.com/office/drawing/2014/main" val="2877649503"/>
                  </a:ext>
                </a:extLst>
              </a:tr>
              <a:tr h="622569">
                <a:tc>
                  <a:txBody>
                    <a:bodyPr/>
                    <a:lstStyle/>
                    <a:p>
                      <a:pPr>
                        <a:buNone/>
                      </a:pPr>
                      <a:r>
                        <a:rPr lang="en-US" sz="1200" b="1"/>
                        <a:t>Phase 2: Dataset Collection &amp; Preprocessing</a:t>
                      </a:r>
                      <a:endParaRPr lang="en-US" sz="1200"/>
                    </a:p>
                  </a:txBody>
                  <a:tcPr marL="40667" marR="40667" marT="20333" marB="20333" anchor="ctr">
                    <a:lnL>
                      <a:noFill/>
                    </a:lnL>
                    <a:lnR>
                      <a:noFill/>
                    </a:lnR>
                    <a:lnT>
                      <a:noFill/>
                    </a:lnT>
                    <a:lnB>
                      <a:noFill/>
                    </a:lnB>
                    <a:noFill/>
                  </a:tcPr>
                </a:tc>
                <a:tc>
                  <a:txBody>
                    <a:bodyPr/>
                    <a:lstStyle/>
                    <a:p>
                      <a:pPr>
                        <a:buNone/>
                      </a:pPr>
                      <a:r>
                        <a:rPr lang="en-US" sz="1200"/>
                        <a:t>- Collecting BTC-USD dataset from Yahoo Finance</a:t>
                      </a:r>
                      <a:br>
                        <a:rPr lang="en-US" sz="1200"/>
                      </a:br>
                      <a:r>
                        <a:rPr lang="en-US" sz="1200"/>
                        <a:t>- Cleaning and normalizing data</a:t>
                      </a:r>
                      <a:br>
                        <a:rPr lang="en-US" sz="1200"/>
                      </a:br>
                      <a:r>
                        <a:rPr lang="en-US" sz="1200"/>
                        <a:t>- Creating input-output sequences</a:t>
                      </a:r>
                    </a:p>
                  </a:txBody>
                  <a:tcPr marL="40667" marR="40667" marT="20333" marB="20333" anchor="ctr">
                    <a:lnL>
                      <a:noFill/>
                    </a:lnL>
                    <a:lnR>
                      <a:noFill/>
                    </a:lnR>
                    <a:lnT>
                      <a:noFill/>
                    </a:lnT>
                    <a:lnB>
                      <a:noFill/>
                    </a:lnB>
                    <a:noFill/>
                  </a:tcPr>
                </a:tc>
                <a:tc>
                  <a:txBody>
                    <a:bodyPr/>
                    <a:lstStyle/>
                    <a:p>
                      <a:pPr>
                        <a:buNone/>
                      </a:pPr>
                      <a:r>
                        <a:rPr lang="en-IN" sz="1200" dirty="0"/>
                        <a:t>Week 3</a:t>
                      </a:r>
                    </a:p>
                  </a:txBody>
                  <a:tcPr marL="40667" marR="40667" marT="20333" marB="20333" anchor="ctr">
                    <a:lnL>
                      <a:noFill/>
                    </a:lnL>
                    <a:lnR>
                      <a:noFill/>
                    </a:lnR>
                    <a:lnT>
                      <a:noFill/>
                    </a:lnT>
                    <a:lnB>
                      <a:noFill/>
                    </a:lnB>
                    <a:noFill/>
                  </a:tcPr>
                </a:tc>
                <a:extLst>
                  <a:ext uri="{0D108BD9-81ED-4DB2-BD59-A6C34878D82A}">
                    <a16:rowId xmlns:a16="http://schemas.microsoft.com/office/drawing/2014/main" val="296612767"/>
                  </a:ext>
                </a:extLst>
              </a:tr>
              <a:tr h="766239">
                <a:tc>
                  <a:txBody>
                    <a:bodyPr/>
                    <a:lstStyle/>
                    <a:p>
                      <a:pPr>
                        <a:buNone/>
                      </a:pPr>
                      <a:r>
                        <a:rPr lang="en-IN" sz="1200" b="1"/>
                        <a:t>Phase 3: Univariate Model Development</a:t>
                      </a:r>
                      <a:endParaRPr lang="en-IN" sz="1200"/>
                    </a:p>
                  </a:txBody>
                  <a:tcPr marL="40667" marR="40667" marT="20333" marB="20333" anchor="ctr">
                    <a:lnL>
                      <a:noFill/>
                    </a:lnL>
                    <a:lnR>
                      <a:noFill/>
                    </a:lnR>
                    <a:lnT>
                      <a:noFill/>
                    </a:lnT>
                    <a:lnB>
                      <a:noFill/>
                    </a:lnB>
                    <a:noFill/>
                  </a:tcPr>
                </a:tc>
                <a:tc>
                  <a:txBody>
                    <a:bodyPr/>
                    <a:lstStyle/>
                    <a:p>
                      <a:pPr>
                        <a:buNone/>
                      </a:pPr>
                      <a:r>
                        <a:rPr lang="en-US" sz="1200"/>
                        <a:t>- Implementing Univariate LSTM using PyTorch</a:t>
                      </a:r>
                      <a:br>
                        <a:rPr lang="en-US" sz="1200"/>
                      </a:br>
                      <a:r>
                        <a:rPr lang="en-US" sz="1200"/>
                        <a:t>- Training and testing with closing prices</a:t>
                      </a:r>
                      <a:br>
                        <a:rPr lang="en-US" sz="1200"/>
                      </a:br>
                      <a:r>
                        <a:rPr lang="en-US" sz="1200"/>
                        <a:t>- Integrating MLflow for tracking</a:t>
                      </a:r>
                    </a:p>
                  </a:txBody>
                  <a:tcPr marL="40667" marR="40667" marT="20333" marB="20333" anchor="ctr">
                    <a:lnL>
                      <a:noFill/>
                    </a:lnL>
                    <a:lnR>
                      <a:noFill/>
                    </a:lnR>
                    <a:lnT>
                      <a:noFill/>
                    </a:lnT>
                    <a:lnB>
                      <a:noFill/>
                    </a:lnB>
                    <a:noFill/>
                  </a:tcPr>
                </a:tc>
                <a:tc>
                  <a:txBody>
                    <a:bodyPr/>
                    <a:lstStyle/>
                    <a:p>
                      <a:pPr>
                        <a:buNone/>
                      </a:pPr>
                      <a:r>
                        <a:rPr lang="en-IN" sz="1200" dirty="0"/>
                        <a:t>Week 4–5</a:t>
                      </a:r>
                    </a:p>
                  </a:txBody>
                  <a:tcPr marL="40667" marR="40667" marT="20333" marB="20333" anchor="ctr">
                    <a:lnL>
                      <a:noFill/>
                    </a:lnL>
                    <a:lnR>
                      <a:noFill/>
                    </a:lnR>
                    <a:lnT>
                      <a:noFill/>
                    </a:lnT>
                    <a:lnB>
                      <a:noFill/>
                    </a:lnB>
                    <a:noFill/>
                  </a:tcPr>
                </a:tc>
                <a:extLst>
                  <a:ext uri="{0D108BD9-81ED-4DB2-BD59-A6C34878D82A}">
                    <a16:rowId xmlns:a16="http://schemas.microsoft.com/office/drawing/2014/main" val="1455346308"/>
                  </a:ext>
                </a:extLst>
              </a:tr>
              <a:tr h="766239">
                <a:tc>
                  <a:txBody>
                    <a:bodyPr/>
                    <a:lstStyle/>
                    <a:p>
                      <a:pPr>
                        <a:buNone/>
                      </a:pPr>
                      <a:r>
                        <a:rPr lang="en-IN" sz="1200" b="1"/>
                        <a:t>Phase 4: Multivariate Model Development</a:t>
                      </a:r>
                      <a:endParaRPr lang="en-IN" sz="1200"/>
                    </a:p>
                  </a:txBody>
                  <a:tcPr marL="40667" marR="40667" marT="20333" marB="20333" anchor="ctr">
                    <a:lnL>
                      <a:noFill/>
                    </a:lnL>
                    <a:lnR>
                      <a:noFill/>
                    </a:lnR>
                    <a:lnT>
                      <a:noFill/>
                    </a:lnT>
                    <a:lnB>
                      <a:noFill/>
                    </a:lnB>
                    <a:noFill/>
                  </a:tcPr>
                </a:tc>
                <a:tc>
                  <a:txBody>
                    <a:bodyPr/>
                    <a:lstStyle/>
                    <a:p>
                      <a:pPr>
                        <a:buNone/>
                      </a:pPr>
                      <a:r>
                        <a:rPr lang="en-US" sz="1200"/>
                        <a:t>- Implementing Multivariate LSTM using TensorFlow/Keras</a:t>
                      </a:r>
                      <a:br>
                        <a:rPr lang="en-US" sz="1200"/>
                      </a:br>
                      <a:r>
                        <a:rPr lang="en-US" sz="1200"/>
                        <a:t>- Using OHLC + Adjusted Close features</a:t>
                      </a:r>
                      <a:br>
                        <a:rPr lang="en-US" sz="1200"/>
                      </a:br>
                      <a:r>
                        <a:rPr lang="en-US" sz="1200"/>
                        <a:t>- Adding dropout for regularization</a:t>
                      </a:r>
                    </a:p>
                  </a:txBody>
                  <a:tcPr marL="40667" marR="40667" marT="20333" marB="20333" anchor="ctr">
                    <a:lnL>
                      <a:noFill/>
                    </a:lnL>
                    <a:lnR>
                      <a:noFill/>
                    </a:lnR>
                    <a:lnT>
                      <a:noFill/>
                    </a:lnT>
                    <a:lnB>
                      <a:noFill/>
                    </a:lnB>
                    <a:noFill/>
                  </a:tcPr>
                </a:tc>
                <a:tc>
                  <a:txBody>
                    <a:bodyPr/>
                    <a:lstStyle/>
                    <a:p>
                      <a:pPr>
                        <a:buNone/>
                      </a:pPr>
                      <a:r>
                        <a:rPr lang="en-IN" sz="1200" dirty="0"/>
                        <a:t>Week 6–7</a:t>
                      </a:r>
                    </a:p>
                  </a:txBody>
                  <a:tcPr marL="40667" marR="40667" marT="20333" marB="20333" anchor="ctr">
                    <a:lnL>
                      <a:noFill/>
                    </a:lnL>
                    <a:lnR>
                      <a:noFill/>
                    </a:lnR>
                    <a:lnT>
                      <a:noFill/>
                    </a:lnT>
                    <a:lnB>
                      <a:noFill/>
                    </a:lnB>
                    <a:noFill/>
                  </a:tcPr>
                </a:tc>
                <a:extLst>
                  <a:ext uri="{0D108BD9-81ED-4DB2-BD59-A6C34878D82A}">
                    <a16:rowId xmlns:a16="http://schemas.microsoft.com/office/drawing/2014/main" val="2503129179"/>
                  </a:ext>
                </a:extLst>
              </a:tr>
              <a:tr h="766239">
                <a:tc>
                  <a:txBody>
                    <a:bodyPr/>
                    <a:lstStyle/>
                    <a:p>
                      <a:pPr>
                        <a:buNone/>
                      </a:pPr>
                      <a:r>
                        <a:rPr lang="en-IN" sz="1200" b="1"/>
                        <a:t>Phase 5: Evaluation &amp; Comparison</a:t>
                      </a:r>
                      <a:endParaRPr lang="en-IN" sz="1200"/>
                    </a:p>
                  </a:txBody>
                  <a:tcPr marL="40667" marR="40667" marT="20333" marB="20333" anchor="ctr">
                    <a:lnL>
                      <a:noFill/>
                    </a:lnL>
                    <a:lnR>
                      <a:noFill/>
                    </a:lnR>
                    <a:lnT>
                      <a:noFill/>
                    </a:lnT>
                    <a:lnB>
                      <a:noFill/>
                    </a:lnB>
                    <a:noFill/>
                  </a:tcPr>
                </a:tc>
                <a:tc>
                  <a:txBody>
                    <a:bodyPr/>
                    <a:lstStyle/>
                    <a:p>
                      <a:pPr>
                        <a:buNone/>
                      </a:pPr>
                      <a:r>
                        <a:rPr lang="en-IN" sz="1200"/>
                        <a:t>- Evaluating models using RMSE, MAE, R²</a:t>
                      </a:r>
                      <a:br>
                        <a:rPr lang="en-IN" sz="1200"/>
                      </a:br>
                      <a:r>
                        <a:rPr lang="en-IN" sz="1200"/>
                        <a:t>- Comparing Univariate vs Multivariate results</a:t>
                      </a:r>
                      <a:br>
                        <a:rPr lang="en-IN" sz="1200"/>
                      </a:br>
                      <a:r>
                        <a:rPr lang="en-IN" sz="1200"/>
                        <a:t>- Visualizing predictions vs actuals</a:t>
                      </a:r>
                    </a:p>
                  </a:txBody>
                  <a:tcPr marL="40667" marR="40667" marT="20333" marB="20333" anchor="ctr">
                    <a:lnL>
                      <a:noFill/>
                    </a:lnL>
                    <a:lnR>
                      <a:noFill/>
                    </a:lnR>
                    <a:lnT>
                      <a:noFill/>
                    </a:lnT>
                    <a:lnB>
                      <a:noFill/>
                    </a:lnB>
                    <a:noFill/>
                  </a:tcPr>
                </a:tc>
                <a:tc>
                  <a:txBody>
                    <a:bodyPr/>
                    <a:lstStyle/>
                    <a:p>
                      <a:pPr>
                        <a:buNone/>
                      </a:pPr>
                      <a:r>
                        <a:rPr lang="en-IN" sz="1200" dirty="0"/>
                        <a:t>Week 8</a:t>
                      </a:r>
                    </a:p>
                  </a:txBody>
                  <a:tcPr marL="40667" marR="40667" marT="20333" marB="20333" anchor="ctr">
                    <a:lnL>
                      <a:noFill/>
                    </a:lnL>
                    <a:lnR>
                      <a:noFill/>
                    </a:lnR>
                    <a:lnT>
                      <a:noFill/>
                    </a:lnT>
                    <a:lnB>
                      <a:noFill/>
                    </a:lnB>
                    <a:noFill/>
                  </a:tcPr>
                </a:tc>
                <a:extLst>
                  <a:ext uri="{0D108BD9-81ED-4DB2-BD59-A6C34878D82A}">
                    <a16:rowId xmlns:a16="http://schemas.microsoft.com/office/drawing/2014/main" val="1322863297"/>
                  </a:ext>
                </a:extLst>
              </a:tr>
              <a:tr h="766239">
                <a:tc>
                  <a:txBody>
                    <a:bodyPr/>
                    <a:lstStyle/>
                    <a:p>
                      <a:pPr>
                        <a:buNone/>
                      </a:pPr>
                      <a:r>
                        <a:rPr lang="en-US" sz="1200" b="1"/>
                        <a:t>Phase 6: Documentation &amp; Report Writing</a:t>
                      </a:r>
                      <a:endParaRPr lang="en-US" sz="1200"/>
                    </a:p>
                  </a:txBody>
                  <a:tcPr marL="40667" marR="40667" marT="20333" marB="20333" anchor="ctr">
                    <a:lnL>
                      <a:noFill/>
                    </a:lnL>
                    <a:lnR>
                      <a:noFill/>
                    </a:lnR>
                    <a:lnT>
                      <a:noFill/>
                    </a:lnT>
                    <a:lnB>
                      <a:noFill/>
                    </a:lnB>
                    <a:noFill/>
                  </a:tcPr>
                </a:tc>
                <a:tc>
                  <a:txBody>
                    <a:bodyPr/>
                    <a:lstStyle/>
                    <a:p>
                      <a:pPr>
                        <a:buNone/>
                      </a:pPr>
                      <a:r>
                        <a:rPr lang="en-US" sz="1200"/>
                        <a:t>- Writing Abstract, Introduction, Literature Review, Methodology</a:t>
                      </a:r>
                      <a:br>
                        <a:rPr lang="en-US" sz="1200"/>
                      </a:br>
                      <a:r>
                        <a:rPr lang="en-US" sz="1200"/>
                        <a:t>- Preparing Results, Conclusion, and References</a:t>
                      </a:r>
                      <a:br>
                        <a:rPr lang="en-US" sz="1200"/>
                      </a:br>
                      <a:r>
                        <a:rPr lang="en-US" sz="1200"/>
                        <a:t>- Proofreading &amp; formatting</a:t>
                      </a:r>
                    </a:p>
                  </a:txBody>
                  <a:tcPr marL="40667" marR="40667" marT="20333" marB="20333" anchor="ctr">
                    <a:lnL>
                      <a:noFill/>
                    </a:lnL>
                    <a:lnR>
                      <a:noFill/>
                    </a:lnR>
                    <a:lnT>
                      <a:noFill/>
                    </a:lnT>
                    <a:lnB>
                      <a:noFill/>
                    </a:lnB>
                    <a:noFill/>
                  </a:tcPr>
                </a:tc>
                <a:tc>
                  <a:txBody>
                    <a:bodyPr/>
                    <a:lstStyle/>
                    <a:p>
                      <a:pPr>
                        <a:buNone/>
                      </a:pPr>
                      <a:r>
                        <a:rPr lang="en-IN" sz="1200" dirty="0"/>
                        <a:t>Week 9–10</a:t>
                      </a:r>
                    </a:p>
                  </a:txBody>
                  <a:tcPr marL="40667" marR="40667" marT="20333" marB="20333" anchor="ctr">
                    <a:lnL>
                      <a:noFill/>
                    </a:lnL>
                    <a:lnR>
                      <a:noFill/>
                    </a:lnR>
                    <a:lnT>
                      <a:noFill/>
                    </a:lnT>
                    <a:lnB>
                      <a:noFill/>
                    </a:lnB>
                    <a:noFill/>
                  </a:tcPr>
                </a:tc>
                <a:extLst>
                  <a:ext uri="{0D108BD9-81ED-4DB2-BD59-A6C34878D82A}">
                    <a16:rowId xmlns:a16="http://schemas.microsoft.com/office/drawing/2014/main" val="4271245118"/>
                  </a:ext>
                </a:extLst>
              </a:tr>
              <a:tr h="622569">
                <a:tc>
                  <a:txBody>
                    <a:bodyPr/>
                    <a:lstStyle/>
                    <a:p>
                      <a:pPr>
                        <a:buNone/>
                      </a:pPr>
                      <a:r>
                        <a:rPr lang="en-IN" sz="1200" b="1"/>
                        <a:t>Final Phase: Presentation &amp; Submission</a:t>
                      </a:r>
                      <a:endParaRPr lang="en-IN" sz="1200"/>
                    </a:p>
                  </a:txBody>
                  <a:tcPr marL="40667" marR="40667" marT="20333" marB="20333" anchor="ctr">
                    <a:lnL>
                      <a:noFill/>
                    </a:lnL>
                    <a:lnR>
                      <a:noFill/>
                    </a:lnR>
                    <a:lnT>
                      <a:noFill/>
                    </a:lnT>
                    <a:lnB>
                      <a:noFill/>
                    </a:lnB>
                    <a:noFill/>
                  </a:tcPr>
                </a:tc>
                <a:tc>
                  <a:txBody>
                    <a:bodyPr/>
                    <a:lstStyle/>
                    <a:p>
                      <a:pPr>
                        <a:buNone/>
                      </a:pPr>
                      <a:r>
                        <a:rPr lang="en-US" sz="1200"/>
                        <a:t>- Preparing PPT</a:t>
                      </a:r>
                      <a:br>
                        <a:rPr lang="en-US" sz="1200"/>
                      </a:br>
                      <a:r>
                        <a:rPr lang="en-US" sz="1200"/>
                        <a:t>- Practicing viva questions</a:t>
                      </a:r>
                      <a:br>
                        <a:rPr lang="en-US" sz="1200"/>
                      </a:br>
                      <a:r>
                        <a:rPr lang="en-US" sz="1200"/>
                        <a:t>- Final submission of report and code</a:t>
                      </a:r>
                    </a:p>
                  </a:txBody>
                  <a:tcPr marL="40667" marR="40667" marT="20333" marB="20333" anchor="ctr">
                    <a:lnL>
                      <a:noFill/>
                    </a:lnL>
                    <a:lnR>
                      <a:noFill/>
                    </a:lnR>
                    <a:lnT>
                      <a:noFill/>
                    </a:lnT>
                    <a:lnB>
                      <a:noFill/>
                    </a:lnB>
                    <a:noFill/>
                  </a:tcPr>
                </a:tc>
                <a:tc>
                  <a:txBody>
                    <a:bodyPr/>
                    <a:lstStyle/>
                    <a:p>
                      <a:pPr>
                        <a:buNone/>
                      </a:pPr>
                      <a:r>
                        <a:rPr lang="en-IN" sz="1200" dirty="0"/>
                        <a:t>Week 11</a:t>
                      </a:r>
                    </a:p>
                  </a:txBody>
                  <a:tcPr marL="40667" marR="40667" marT="20333" marB="20333" anchor="ctr">
                    <a:lnL>
                      <a:noFill/>
                    </a:lnL>
                    <a:lnR>
                      <a:noFill/>
                    </a:lnR>
                    <a:lnT>
                      <a:noFill/>
                    </a:lnT>
                    <a:lnB>
                      <a:noFill/>
                    </a:lnB>
                    <a:noFill/>
                  </a:tcPr>
                </a:tc>
                <a:extLst>
                  <a:ext uri="{0D108BD9-81ED-4DB2-BD59-A6C34878D82A}">
                    <a16:rowId xmlns:a16="http://schemas.microsoft.com/office/drawing/2014/main" val="2372038065"/>
                  </a:ext>
                </a:extLst>
              </a:tr>
            </a:tbl>
          </a:graphicData>
        </a:graphic>
      </p:graphicFrame>
      <p:sp>
        <p:nvSpPr>
          <p:cNvPr id="17" name="Rectangle 3">
            <a:extLst>
              <a:ext uri="{FF2B5EF4-FFF2-40B4-BE49-F238E27FC236}">
                <a16:creationId xmlns:a16="http://schemas.microsoft.com/office/drawing/2014/main" id="{DCA0D3DB-2435-59E5-F019-30D3A0310E74}"/>
              </a:ext>
            </a:extLst>
          </p:cNvPr>
          <p:cNvSpPr>
            <a:spLocks noChangeArrowheads="1"/>
          </p:cNvSpPr>
          <p:nvPr/>
        </p:nvSpPr>
        <p:spPr bwMode="auto">
          <a:xfrm>
            <a:off x="3757613" y="1777226"/>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151004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2C8D95E-DD5F-4990-3757-D2E73B138463}"/>
              </a:ext>
            </a:extLst>
          </p:cNvPr>
          <p:cNvSpPr txBox="1"/>
          <p:nvPr/>
        </p:nvSpPr>
        <p:spPr>
          <a:xfrm>
            <a:off x="304799" y="319314"/>
            <a:ext cx="11437257" cy="4431983"/>
          </a:xfrm>
          <a:prstGeom prst="rect">
            <a:avLst/>
          </a:prstGeom>
          <a:noFill/>
        </p:spPr>
        <p:txBody>
          <a:bodyPr wrap="square">
            <a:spAutoFit/>
          </a:bodyPr>
          <a:lstStyle/>
          <a:p>
            <a:pPr>
              <a:buNone/>
            </a:pPr>
            <a:r>
              <a:rPr lang="en-US" sz="2400" b="1" dirty="0"/>
              <a:t>Team Collaboration and Presentation:</a:t>
            </a:r>
          </a:p>
          <a:p>
            <a:pPr>
              <a:buNone/>
            </a:pPr>
            <a:endParaRPr lang="en-US" b="1" dirty="0"/>
          </a:p>
          <a:p>
            <a:pPr>
              <a:buNone/>
            </a:pPr>
            <a:r>
              <a:rPr lang="en-US" sz="2000" b="1" dirty="0"/>
              <a:t>1. Team Collaboration:</a:t>
            </a:r>
          </a:p>
          <a:p>
            <a:pPr>
              <a:buNone/>
            </a:pPr>
            <a:r>
              <a:rPr lang="en-US" sz="2000" dirty="0"/>
              <a:t>The project was carried out with </a:t>
            </a:r>
            <a:r>
              <a:rPr lang="en-US" sz="2000" b="1" dirty="0"/>
              <a:t>equal contribution from all members</a:t>
            </a:r>
            <a:r>
              <a:rPr lang="en-US" sz="2000" dirty="0"/>
              <a:t>. Each student was assigned specific responsibilities based on their strengths, while maintaining coordination to ensure consistency across the project.</a:t>
            </a:r>
          </a:p>
          <a:p>
            <a:pPr>
              <a:buFont typeface="Arial" panose="020B0604020202020204" pitchFamily="34" charset="0"/>
              <a:buChar char="•"/>
            </a:pPr>
            <a:r>
              <a:rPr lang="en-US" sz="2000" b="1" dirty="0"/>
              <a:t>Student 1:</a:t>
            </a:r>
            <a:r>
              <a:rPr lang="en-US" sz="2000" dirty="0"/>
              <a:t> Collected and preprocessed the Bitcoin dataset, implemented the </a:t>
            </a:r>
            <a:r>
              <a:rPr lang="en-US" sz="2000" b="1" dirty="0"/>
              <a:t>Univariate LSTM model</a:t>
            </a:r>
            <a:r>
              <a:rPr lang="en-US" sz="2000" dirty="0"/>
              <a:t>, and integrated </a:t>
            </a:r>
            <a:r>
              <a:rPr lang="en-US" sz="2000" dirty="0" err="1"/>
              <a:t>MLflow</a:t>
            </a:r>
            <a:r>
              <a:rPr lang="en-US" sz="2000" dirty="0"/>
              <a:t> for experiment tracking.</a:t>
            </a:r>
          </a:p>
          <a:p>
            <a:pPr>
              <a:buFont typeface="Arial" panose="020B0604020202020204" pitchFamily="34" charset="0"/>
              <a:buChar char="•"/>
            </a:pPr>
            <a:r>
              <a:rPr lang="en-US" sz="2000" b="1" dirty="0"/>
              <a:t>Student 2:</a:t>
            </a:r>
            <a:r>
              <a:rPr lang="en-US" sz="2000" dirty="0"/>
              <a:t> Designed and implemented the </a:t>
            </a:r>
            <a:r>
              <a:rPr lang="en-US" sz="2000" b="1" dirty="0"/>
              <a:t>Multivariate LSTM model</a:t>
            </a:r>
            <a:r>
              <a:rPr lang="en-US" sz="2000" dirty="0"/>
              <a:t>, tuned hyperparameters, and analyzed performance metrics.</a:t>
            </a:r>
          </a:p>
          <a:p>
            <a:pPr>
              <a:buFont typeface="Arial" panose="020B0604020202020204" pitchFamily="34" charset="0"/>
              <a:buChar char="•"/>
            </a:pPr>
            <a:r>
              <a:rPr lang="en-US" sz="2000" b="1" dirty="0"/>
              <a:t>Student 3:</a:t>
            </a:r>
            <a:r>
              <a:rPr lang="en-US" sz="2000" dirty="0"/>
              <a:t> Focused on </a:t>
            </a:r>
            <a:r>
              <a:rPr lang="en-US" sz="2000" b="1" dirty="0"/>
              <a:t>documentation, result visualization, and presentation preparation</a:t>
            </a:r>
            <a:r>
              <a:rPr lang="en-US" sz="2000" dirty="0"/>
              <a:t>, ensuring smooth integration of all work.</a:t>
            </a:r>
          </a:p>
          <a:p>
            <a:pPr>
              <a:buNone/>
            </a:pPr>
            <a:r>
              <a:rPr lang="en-US" sz="2000" dirty="0"/>
              <a:t>Regular meetings were conducted to discuss progress, resolve issues, and make collaborative decisions. This ensured smooth communication and steady advancement towards milestones.</a:t>
            </a:r>
          </a:p>
        </p:txBody>
      </p:sp>
    </p:spTree>
    <p:extLst>
      <p:ext uri="{BB962C8B-B14F-4D97-AF65-F5344CB8AC3E}">
        <p14:creationId xmlns:p14="http://schemas.microsoft.com/office/powerpoint/2010/main" val="17057647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8BE2FF5-75CD-AEDA-F1AA-445F015A3F74}"/>
              </a:ext>
            </a:extLst>
          </p:cNvPr>
          <p:cNvSpPr txBox="1"/>
          <p:nvPr/>
        </p:nvSpPr>
        <p:spPr>
          <a:xfrm>
            <a:off x="391885" y="449944"/>
            <a:ext cx="11335657" cy="5170646"/>
          </a:xfrm>
          <a:prstGeom prst="rect">
            <a:avLst/>
          </a:prstGeom>
          <a:noFill/>
        </p:spPr>
        <p:txBody>
          <a:bodyPr wrap="square">
            <a:spAutoFit/>
          </a:bodyPr>
          <a:lstStyle/>
          <a:p>
            <a:pPr>
              <a:buNone/>
            </a:pPr>
            <a:r>
              <a:rPr lang="en-US" sz="2400" b="1" dirty="0"/>
              <a:t>2</a:t>
            </a:r>
            <a:r>
              <a:rPr lang="en-US" b="1" dirty="0"/>
              <a:t>. </a:t>
            </a:r>
            <a:r>
              <a:rPr lang="en-US" sz="2400" b="1" dirty="0"/>
              <a:t>Presentation:</a:t>
            </a:r>
          </a:p>
          <a:p>
            <a:pPr>
              <a:buNone/>
            </a:pPr>
            <a:endParaRPr lang="en-US" sz="2400" b="1" dirty="0"/>
          </a:p>
          <a:p>
            <a:pPr>
              <a:buFont typeface="Arial" panose="020B0604020202020204" pitchFamily="34" charset="0"/>
              <a:buChar char="•"/>
            </a:pPr>
            <a:r>
              <a:rPr lang="en-US" sz="2000" dirty="0"/>
              <a:t>The final presentation was designed to be </a:t>
            </a:r>
            <a:r>
              <a:rPr lang="en-US" sz="2000" b="1" dirty="0"/>
              <a:t>clear, structured, and concise</a:t>
            </a:r>
            <a:r>
              <a:rPr lang="en-US" sz="2000" dirty="0"/>
              <a:t>, covering the problem statement, methodology, results, and conclusion.</a:t>
            </a:r>
          </a:p>
          <a:p>
            <a:pPr>
              <a:buFont typeface="Arial" panose="020B0604020202020204" pitchFamily="34" charset="0"/>
              <a:buChar char="•"/>
            </a:pPr>
            <a:r>
              <a:rPr lang="en-US" sz="2000" dirty="0"/>
              <a:t>All team members were actively involved in explaining their respective parts of the project during the presentation.</a:t>
            </a:r>
          </a:p>
          <a:p>
            <a:pPr>
              <a:buFont typeface="Arial" panose="020B0604020202020204" pitchFamily="34" charset="0"/>
              <a:buChar char="•"/>
            </a:pPr>
            <a:r>
              <a:rPr lang="en-US" sz="2000" dirty="0"/>
              <a:t>Equal speaking opportunities were given to each member, demonstrating teamwork and shared ownership of the work.</a:t>
            </a:r>
          </a:p>
          <a:p>
            <a:pPr>
              <a:buFont typeface="Arial" panose="020B0604020202020204" pitchFamily="34" charset="0"/>
              <a:buChar char="•"/>
            </a:pPr>
            <a:r>
              <a:rPr lang="en-US" sz="2000" dirty="0"/>
              <a:t>During the viva, the team was able to </a:t>
            </a:r>
            <a:r>
              <a:rPr lang="en-US" sz="2000" b="1" dirty="0"/>
              <a:t>answer questions confidently</a:t>
            </a:r>
            <a:r>
              <a:rPr lang="en-US" sz="2000" dirty="0"/>
              <a:t>, showing a strong understanding of the methodology, results, and scope of the project.</a:t>
            </a:r>
          </a:p>
          <a:p>
            <a:pPr>
              <a:buNone/>
            </a:pPr>
            <a:br>
              <a:rPr lang="en-US" sz="2000" dirty="0"/>
            </a:br>
            <a:endParaRPr lang="en-US" sz="2000" dirty="0"/>
          </a:p>
          <a:p>
            <a:pPr>
              <a:buNone/>
            </a:pPr>
            <a:r>
              <a:rPr lang="en-US" sz="2400" b="1" dirty="0"/>
              <a:t>3. Outcome:</a:t>
            </a:r>
          </a:p>
          <a:p>
            <a:pPr>
              <a:buNone/>
            </a:pPr>
            <a:endParaRPr lang="en-US" b="1" dirty="0"/>
          </a:p>
          <a:p>
            <a:pPr>
              <a:buNone/>
            </a:pPr>
            <a:r>
              <a:rPr lang="en-US" sz="2000" dirty="0"/>
              <a:t>The team’s </a:t>
            </a:r>
            <a:r>
              <a:rPr lang="en-US" sz="2000" b="1" dirty="0"/>
              <a:t>collaborative effort, effective communication, and clarity in presentation</a:t>
            </a:r>
            <a:r>
              <a:rPr lang="en-US" sz="2000" dirty="0"/>
              <a:t> ensured that the project was completed successfully and presented in a professional manner.</a:t>
            </a:r>
          </a:p>
        </p:txBody>
      </p:sp>
    </p:spTree>
    <p:extLst>
      <p:ext uri="{BB962C8B-B14F-4D97-AF65-F5344CB8AC3E}">
        <p14:creationId xmlns:p14="http://schemas.microsoft.com/office/powerpoint/2010/main" val="21280757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68</TotalTime>
  <Words>2568</Words>
  <Application>Microsoft Office PowerPoint</Application>
  <PresentationFormat>Widescreen</PresentationFormat>
  <Paragraphs>173</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Baskerville Old Face</vt:lpstr>
      <vt:lpstr>Calibri</vt:lpstr>
      <vt:lpstr>Calibri Light</vt:lpstr>
      <vt:lpstr>Office Theme</vt:lpstr>
      <vt:lpstr>Bitcoin Price Prediction Using Deep Learning (LSTM Models)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thorne koushik</dc:creator>
  <cp:lastModifiedBy>thorne koushik</cp:lastModifiedBy>
  <cp:revision>1</cp:revision>
  <dcterms:created xsi:type="dcterms:W3CDTF">2025-09-10T03:18:12Z</dcterms:created>
  <dcterms:modified xsi:type="dcterms:W3CDTF">2025-09-10T04:26:14Z</dcterms:modified>
</cp:coreProperties>
</file>