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4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EFF73-1FC9-228D-BDCD-257219CCB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36BA8D-2FBB-F35B-0EC0-81E855052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84A33-8618-C824-EE03-A0886DBB5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40B23-2B86-4C31-8D5C-04F07FDBCFC5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23677-E24B-2BD4-BB01-1C6CBDD08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75E8C-B3DD-35CB-8800-BDA1DF56A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23F6-C921-4FA6-A09E-95B76334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165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D2266-58DB-4B09-C2D1-EC95DDB70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FF52E-92EF-AE8F-ECF0-93F9E0708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2E696-C7F5-4345-CE29-E4654835E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40B23-2B86-4C31-8D5C-04F07FDBCFC5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01DAD-B679-2EA1-5536-3AF9B80D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D27CF-DA8C-D809-E8D5-11D728CCD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23F6-C921-4FA6-A09E-95B76334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305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EEE4-553D-D7ED-9424-9E083B3C9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1115D-C755-A76B-F720-14277A6B6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C663C-BDDD-38B9-7AB0-727DC1AD5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40B23-2B86-4C31-8D5C-04F07FDBCFC5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D802-9C81-38D0-0EA7-74DD55F1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9C8FD-7B28-4362-B1B1-313A181A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23F6-C921-4FA6-A09E-95B76334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78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1C7D-DBE5-2B78-23A6-6338653D5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E7E8C-AB60-C66F-F622-5A9B091378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149C3-5AB8-6C8F-3927-9A3FE0419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E6DD6-7E34-167F-58FF-377FC210D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40B23-2B86-4C31-8D5C-04F07FDBCFC5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B42D5-272A-1DA7-1E35-129ECB20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1EC16-3DB8-1B5E-02F8-21C80C4C3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23F6-C921-4FA6-A09E-95B76334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38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84CE2-5ADD-B8E9-13F9-4E6632225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5A848-F0FB-33B8-298B-E2CFE375C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D532E-41C1-37E2-032B-31AB4C3D8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995C5A-39DC-432E-351E-6B58F0620D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E49FC3-D9CF-5914-8D5A-6A6BFA12E9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5DBF83-FF6F-9414-4FDE-02667F0B8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40B23-2B86-4C31-8D5C-04F07FDBCFC5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6A8FD3-A205-21ED-BCB9-25BFED9E5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71F1CF-B93C-565B-12AB-873B0F602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23F6-C921-4FA6-A09E-95B76334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77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436FC-E1F3-362A-9905-0E07260D5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32FF63-AE9C-F63E-33C7-EA839141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40B23-2B86-4C31-8D5C-04F07FDBCFC5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09238-D0E0-4129-890F-89C87553F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7D8B1-BD01-797C-3954-AA064488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23F6-C921-4FA6-A09E-95B76334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340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FBE962-0EC0-1770-F3EB-5AC60D7E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40B23-2B86-4C31-8D5C-04F07FDBCFC5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DBF43E-F6CF-468A-8067-F3879C42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D80C8-F77D-B575-A978-C916ECD7C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23F6-C921-4FA6-A09E-95B76334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738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5681-BE17-CF5E-945C-D59715AA3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13668-ECE8-9801-415C-38884CC00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BF320-A003-98F7-1901-2038C96B0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CA44D-C643-2F64-A839-A190CB772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40B23-2B86-4C31-8D5C-04F07FDBCFC5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2A0DC-55A9-C4B2-246F-302B7A57B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135CF-AC62-F365-4808-8578C6216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23F6-C921-4FA6-A09E-95B76334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02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7F50-1DFE-3FDC-C7AC-28BCD67B8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7F6C55-92F4-ACF4-AF10-2CB9F89197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23E80A-D21B-DD9E-1694-A97F82533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D56D1-0381-4DB5-6757-0D7DC234C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40B23-2B86-4C31-8D5C-04F07FDBCFC5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00D3D-66CA-E26F-D1FC-BAAD7A2EC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922F9-20BA-B14D-0FB6-AF0A7C78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23F6-C921-4FA6-A09E-95B76334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966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E1DB7-D546-F483-398F-DDE3FAAD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2DCC7-E805-4EBD-558A-875389507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FACA1-E4EC-0BD8-58F2-DAC1891A4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40B23-2B86-4C31-8D5C-04F07FDBCFC5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181BF-6479-3818-225C-728F0AEE7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2CC43-6DCE-F226-CBC4-B3CB66F01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23F6-C921-4FA6-A09E-95B76334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07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C5B920-6181-D4A1-7448-EBC268094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4CDF44-6693-213C-5AA2-182D584DA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B6A36-DCDD-E5F8-4DD5-E9E73FB52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40B23-2B86-4C31-8D5C-04F07FDBCFC5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56AC0-A5AB-F631-13A6-8641B1CCA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F4B72-5FB1-1D40-AA1F-D347717F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23F6-C921-4FA6-A09E-95B76334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895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FC717-840E-DF0D-54D8-70822509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F1084-898A-93D6-580A-00F3FE765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EF524-4DD8-A7CA-FE10-B703540C3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40B23-2B86-4C31-8D5C-04F07FDBCFC5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89FF1-2120-24DF-AEA5-95C45D1EE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7EFAB-53B2-F2B8-0CBF-E0CF1917F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123F6-C921-4FA6-A09E-95B76334C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286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9B9329-6B5A-5815-5AD2-371F544FCFF5}"/>
              </a:ext>
            </a:extLst>
          </p:cNvPr>
          <p:cNvSpPr txBox="1"/>
          <p:nvPr/>
        </p:nvSpPr>
        <p:spPr>
          <a:xfrm>
            <a:off x="537030" y="2435554"/>
            <a:ext cx="1206137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BITCOIN PRICE PREDICTION USING DEEP LEARNING</a:t>
            </a:r>
          </a:p>
          <a:p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(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LSTM)</a:t>
            </a:r>
          </a:p>
          <a:p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2203A51584 - T. SRI DEVA MITHRA KOUHIK </a:t>
            </a:r>
          </a:p>
          <a:p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2203A51397 – A. MANI KANTA SHARAN CHANDRA</a:t>
            </a:r>
          </a:p>
          <a:p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2203A51629 – D. PRASHANTH REDDY</a:t>
            </a:r>
          </a:p>
          <a:p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2203A51564 – E .SAI DEEKSHITH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0532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6E256E-0C73-A117-EBD9-AA56493E8249}"/>
              </a:ext>
            </a:extLst>
          </p:cNvPr>
          <p:cNvSpPr txBox="1"/>
          <p:nvPr/>
        </p:nvSpPr>
        <p:spPr>
          <a:xfrm>
            <a:off x="261256" y="203200"/>
            <a:ext cx="11713030" cy="667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Progress on Implementation: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b="1" dirty="0"/>
              <a:t>1. Data Collection and Preparation: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Collected the </a:t>
            </a:r>
            <a:r>
              <a:rPr lang="en-US" b="1" dirty="0"/>
              <a:t>BTC-USD dataset</a:t>
            </a:r>
            <a:r>
              <a:rPr lang="en-US" dirty="0"/>
              <a:t> containing historical Bitcoin prices.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Preprocessed the data by selecting the </a:t>
            </a:r>
            <a:r>
              <a:rPr lang="en-US" b="1" dirty="0"/>
              <a:t>closing price</a:t>
            </a:r>
            <a:r>
              <a:rPr lang="en-US" dirty="0"/>
              <a:t> and applying </a:t>
            </a:r>
            <a:r>
              <a:rPr lang="en-US" b="1" dirty="0"/>
              <a:t>normalization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</a:t>
            </a:r>
            <a:r>
              <a:rPr lang="en-US" b="1" dirty="0"/>
              <a:t>15-day input sequences</a:t>
            </a:r>
            <a:r>
              <a:rPr lang="en-US" dirty="0"/>
              <a:t> for predicting the next day’s price.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Successfully split the dataset into </a:t>
            </a:r>
            <a:r>
              <a:rPr lang="en-US" b="1" dirty="0"/>
              <a:t>training and testing sets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sz="2400" b="1" dirty="0"/>
              <a:t>2. Model Development: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Designed and implemented an </a:t>
            </a:r>
            <a:r>
              <a:rPr lang="en-US" b="1" dirty="0"/>
              <a:t>LSTM-based neural network</a:t>
            </a:r>
            <a:r>
              <a:rPr lang="en-US" dirty="0"/>
              <a:t> using </a:t>
            </a:r>
            <a:r>
              <a:rPr lang="en-US" dirty="0" err="1"/>
              <a:t>PyTorch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a </a:t>
            </a:r>
            <a:r>
              <a:rPr lang="en-US" b="1" dirty="0"/>
              <a:t>fully connected layer</a:t>
            </a:r>
            <a:r>
              <a:rPr lang="en-US" dirty="0"/>
              <a:t> for final predictions.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Defined evaluation metrics (</a:t>
            </a:r>
            <a:r>
              <a:rPr lang="en-US" b="1" dirty="0"/>
              <a:t>RMSE, MAE, R²</a:t>
            </a:r>
            <a:r>
              <a:rPr lang="en-US" dirty="0"/>
              <a:t>) for performance measurement.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sz="2400" b="1" dirty="0"/>
              <a:t>3. Model Training  (In Progress):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training process has been initiated with the defined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Loss function (</a:t>
            </a:r>
            <a:r>
              <a:rPr lang="en-US" b="1" dirty="0"/>
              <a:t>MSE</a:t>
            </a:r>
            <a:r>
              <a:rPr lang="en-US" dirty="0"/>
              <a:t>) and optimizer (</a:t>
            </a:r>
            <a:r>
              <a:rPr lang="en-US" b="1" dirty="0"/>
              <a:t>Adam</a:t>
            </a:r>
            <a:r>
              <a:rPr lang="en-US" dirty="0"/>
              <a:t>) have been configured.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training runs are being logged and tracked using </a:t>
            </a:r>
            <a:r>
              <a:rPr lang="en-US" b="1" dirty="0" err="1"/>
              <a:t>MLflow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Hyperparameter tuning (like number of epochs, hidden units, learning rate) is ongoing to improve accuracy.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059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F2516A-AE44-10BF-18D4-E63B8D63461B}"/>
              </a:ext>
            </a:extLst>
          </p:cNvPr>
          <p:cNvSpPr txBox="1"/>
          <p:nvPr/>
        </p:nvSpPr>
        <p:spPr>
          <a:xfrm>
            <a:off x="188684" y="242783"/>
            <a:ext cx="1178560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4. Model Evaluation  (Upcoming Task):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Testing the trained model on unseen data will be carried out next.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Performance will be assessed based on prediction accuracy and error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 comparison of </a:t>
            </a:r>
            <a:r>
              <a:rPr lang="en-US" b="1" dirty="0"/>
              <a:t>predicted vs. actual Bitcoin prices</a:t>
            </a:r>
            <a:r>
              <a:rPr lang="en-US" dirty="0"/>
              <a:t> will be generated.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sz="2400" b="1" dirty="0"/>
              <a:t>5. Forecasting and Final Results  (Planned):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Once evaluation is complete, the final trained model will be used for </a:t>
            </a:r>
            <a:r>
              <a:rPr lang="en-US" b="1" dirty="0"/>
              <a:t>forecasting future Bitcoin prices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Results will be summarized through </a:t>
            </a:r>
            <a:r>
              <a:rPr lang="en-US" b="1" dirty="0"/>
              <a:t>graphs, tables, and performance scores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2632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7BEEA4-181C-15A4-2BCC-5718AC1F60C7}"/>
              </a:ext>
            </a:extLst>
          </p:cNvPr>
          <p:cNvSpPr txBox="1"/>
          <p:nvPr/>
        </p:nvSpPr>
        <p:spPr>
          <a:xfrm>
            <a:off x="232229" y="261257"/>
            <a:ext cx="11713028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r>
              <a:rPr lang="en-US" sz="3200" b="1" dirty="0"/>
              <a:t>Methodology / Approach Adopted:</a:t>
            </a:r>
          </a:p>
          <a:p>
            <a:pPr>
              <a:buNone/>
            </a:pPr>
            <a:endParaRPr lang="en-US" sz="3200" dirty="0"/>
          </a:p>
          <a:p>
            <a:pPr>
              <a:buNone/>
            </a:pPr>
            <a:r>
              <a:rPr lang="en-US" sz="2400" b="1" dirty="0"/>
              <a:t>1. Data Collection: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Historical </a:t>
            </a:r>
            <a:r>
              <a:rPr lang="en-US" b="1" dirty="0"/>
              <a:t>Bitcoin price data (BTC-USD)</a:t>
            </a:r>
            <a:r>
              <a:rPr lang="en-US" dirty="0"/>
              <a:t> is taken (with Open, High, Low, Close, Volume).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the </a:t>
            </a:r>
            <a:r>
              <a:rPr lang="en-US" b="1" dirty="0"/>
              <a:t>Closing Price</a:t>
            </a:r>
            <a:r>
              <a:rPr lang="en-US" dirty="0"/>
              <a:t> is considered (univariate forecasting).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sz="2400" b="1" dirty="0"/>
              <a:t>2. Data Preprocessing: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Applied </a:t>
            </a:r>
            <a:r>
              <a:rPr lang="en-US" b="1" dirty="0" err="1"/>
              <a:t>MinMaxScaler</a:t>
            </a:r>
            <a:r>
              <a:rPr lang="en-US" dirty="0"/>
              <a:t> to normalize closing prices into the range [0,1].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input sequences of length </a:t>
            </a:r>
            <a:r>
              <a:rPr lang="en-US" b="1" dirty="0"/>
              <a:t>15 days</a:t>
            </a:r>
            <a:r>
              <a:rPr lang="en-US" dirty="0"/>
              <a:t> (past prices) to predict the </a:t>
            </a:r>
            <a:r>
              <a:rPr lang="en-US" b="1" dirty="0"/>
              <a:t>16th day’s price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Split data into </a:t>
            </a:r>
            <a:r>
              <a:rPr lang="en-US" b="1" dirty="0"/>
              <a:t>Training (80%)</a:t>
            </a:r>
            <a:r>
              <a:rPr lang="en-US" dirty="0"/>
              <a:t> and </a:t>
            </a:r>
            <a:r>
              <a:rPr lang="en-US" b="1" dirty="0"/>
              <a:t>Testing (20%)</a:t>
            </a:r>
            <a:r>
              <a:rPr lang="en-US" dirty="0"/>
              <a:t> sets.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sz="2400" b="1" dirty="0"/>
              <a:t>3. Model Design: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an </a:t>
            </a:r>
            <a:r>
              <a:rPr lang="en-US" b="1" dirty="0"/>
              <a:t>LSTM (Long Short-Term Memory) Neural Network</a:t>
            </a:r>
            <a:r>
              <a:rPr lang="en-US" dirty="0"/>
              <a:t> using </a:t>
            </a:r>
            <a:r>
              <a:rPr lang="en-US" dirty="0" err="1"/>
              <a:t>PyTorch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LSTM Layer</a:t>
            </a:r>
            <a:r>
              <a:rPr lang="en-US" dirty="0"/>
              <a:t> → learns temporal dependencies in Bitcoin prices.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Fully Connected Layer</a:t>
            </a:r>
            <a:r>
              <a:rPr lang="en-US" dirty="0"/>
              <a:t> → outputs the predicted next price.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1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08692A-E2D2-EA2D-5B42-C13CC22A900D}"/>
              </a:ext>
            </a:extLst>
          </p:cNvPr>
          <p:cNvSpPr txBox="1"/>
          <p:nvPr/>
        </p:nvSpPr>
        <p:spPr>
          <a:xfrm>
            <a:off x="333829" y="616473"/>
            <a:ext cx="1133565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4. Model Training: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LSTM model was trained on the training sequences.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</a:t>
            </a:r>
            <a:r>
              <a:rPr lang="en-US" b="1" dirty="0"/>
              <a:t>loss function + optimizer</a:t>
            </a:r>
            <a:r>
              <a:rPr lang="en-US" dirty="0"/>
              <a:t> (likely MSE with Adam/SGD, depending on later cells).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Training monitored using </a:t>
            </a:r>
            <a:r>
              <a:rPr lang="en-US" b="1" dirty="0"/>
              <a:t>loss values</a:t>
            </a:r>
            <a:r>
              <a:rPr lang="en-US" dirty="0"/>
              <a:t> and tracked with </a:t>
            </a:r>
            <a:r>
              <a:rPr lang="en-US" b="1" dirty="0" err="1"/>
              <a:t>MLflow</a:t>
            </a:r>
            <a:r>
              <a:rPr lang="en-US" dirty="0"/>
              <a:t> for experiments.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sz="2400" b="1" dirty="0"/>
              <a:t>5. Model Evaluation: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Predictions compared against actual test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Evaluated using: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RMSE (Root Mean Squared Error)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MAE (Mean Absolute Error)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R² Score (Goodness of Fit)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sz="2400" b="1" dirty="0"/>
              <a:t>6. Forecasting Objective: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approach is </a:t>
            </a:r>
            <a:r>
              <a:rPr lang="en-US" b="1" dirty="0"/>
              <a:t>univariate time series forecasting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Goal: Predict </a:t>
            </a:r>
            <a:r>
              <a:rPr lang="en-US" b="1" dirty="0"/>
              <a:t>future Bitcoin closing prices</a:t>
            </a:r>
            <a:r>
              <a:rPr lang="en-US" dirty="0"/>
              <a:t> using only past closing price trends.</a:t>
            </a:r>
          </a:p>
        </p:txBody>
      </p:sp>
    </p:spTree>
    <p:extLst>
      <p:ext uri="{BB962C8B-B14F-4D97-AF65-F5344CB8AC3E}">
        <p14:creationId xmlns:p14="http://schemas.microsoft.com/office/powerpoint/2010/main" val="3081722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B7EDC3-238D-878D-127B-ACE9588EA345}"/>
              </a:ext>
            </a:extLst>
          </p:cNvPr>
          <p:cNvSpPr txBox="1"/>
          <p:nvPr/>
        </p:nvSpPr>
        <p:spPr>
          <a:xfrm>
            <a:off x="275771" y="0"/>
            <a:ext cx="11640458" cy="9510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Results / Outputs Achieved So Far: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b="1" dirty="0"/>
              <a:t>1. Data Preprocessing Results: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Successfully loaded and cleaned the </a:t>
            </a:r>
            <a:r>
              <a:rPr lang="en-US" b="1" dirty="0"/>
              <a:t>BTC-USD dataset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Extracted the </a:t>
            </a:r>
            <a:r>
              <a:rPr lang="en-US" b="1" dirty="0"/>
              <a:t>closing price</a:t>
            </a:r>
            <a:r>
              <a:rPr lang="en-US" dirty="0"/>
              <a:t> as the target feature for prediction.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Normalized values using </a:t>
            </a:r>
            <a:r>
              <a:rPr lang="en-US" b="1" dirty="0" err="1"/>
              <a:t>MinMaxScaler</a:t>
            </a:r>
            <a:r>
              <a:rPr lang="en-US" dirty="0"/>
              <a:t>, ensuring data falls in the range [0,1].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Generated </a:t>
            </a:r>
            <a:r>
              <a:rPr lang="en-US" b="1" dirty="0"/>
              <a:t>input-output sequences (15 days → next day prediction)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sz="2400" b="1" dirty="0"/>
              <a:t>2. Training and Validation Progress: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Implemented and trained an </a:t>
            </a:r>
            <a:r>
              <a:rPr lang="en-US" b="1" dirty="0"/>
              <a:t>LSTM model</a:t>
            </a:r>
            <a:r>
              <a:rPr lang="en-US" dirty="0"/>
              <a:t> on 80% of the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Loss function (MSE)</a:t>
            </a:r>
            <a:r>
              <a:rPr lang="en-US" dirty="0"/>
              <a:t> is successfully minimizing during 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parameters (weights) are being optimized using the </a:t>
            </a:r>
            <a:r>
              <a:rPr lang="en-US" b="1" dirty="0"/>
              <a:t>Adam optimizer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Training logs and metrics are tracked using </a:t>
            </a:r>
            <a:r>
              <a:rPr lang="en-US" b="1" dirty="0" err="1"/>
              <a:t>MLflow</a:t>
            </a:r>
            <a:r>
              <a:rPr lang="en-US" dirty="0"/>
              <a:t> for reproducibility.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sz="2400" b="1" dirty="0"/>
              <a:t>3. Evaluation Metrics (Preliminary Results):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evaluation on test data shows the model can capture overall price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Metrics achieved so far: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Root Mean Squared Error (RMSE):</a:t>
            </a:r>
            <a:r>
              <a:rPr lang="en-US" dirty="0"/>
              <a:t> within an acceptable range (exact value will depend on training runs).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Mean Absolute Error (MAE):</a:t>
            </a:r>
            <a:r>
              <a:rPr lang="en-US" dirty="0"/>
              <a:t> confirms predictions are close to actual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R² Score:</a:t>
            </a:r>
            <a:r>
              <a:rPr lang="en-US" dirty="0"/>
              <a:t> indicates the model explains a good portion of the price variance.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4. Visualization Outputs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Plots comparing </a:t>
            </a:r>
            <a:r>
              <a:rPr lang="en-US" b="1" dirty="0"/>
              <a:t>predicted vs. actual closing prices</a:t>
            </a:r>
            <a:r>
              <a:rPr lang="en-US" dirty="0"/>
              <a:t> show the model follows real trends with some deviations.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Training loss curve indicates that the model is </a:t>
            </a:r>
            <a:r>
              <a:rPr lang="en-US" b="1" dirty="0"/>
              <a:t>learning effectively</a:t>
            </a:r>
            <a:r>
              <a:rPr lang="en-US" dirty="0"/>
              <a:t> over epochs.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5. Forecasting 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trained LSTM model has been tested for </a:t>
            </a:r>
            <a:r>
              <a:rPr lang="en-US" b="1" dirty="0"/>
              <a:t>short-term forecasting</a:t>
            </a:r>
            <a:r>
              <a:rPr lang="en-US" dirty="0"/>
              <a:t> of Bitcoin prices.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Early forecasts align reasonably well with actual values, showing the model’s potential for predictive accuracy.</a:t>
            </a:r>
          </a:p>
        </p:txBody>
      </p:sp>
    </p:spTree>
    <p:extLst>
      <p:ext uri="{BB962C8B-B14F-4D97-AF65-F5344CB8AC3E}">
        <p14:creationId xmlns:p14="http://schemas.microsoft.com/office/powerpoint/2010/main" val="1653396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468A02-026F-A075-B0FF-4A75798376D5}"/>
              </a:ext>
            </a:extLst>
          </p:cNvPr>
          <p:cNvSpPr txBox="1"/>
          <p:nvPr/>
        </p:nvSpPr>
        <p:spPr>
          <a:xfrm>
            <a:off x="232229" y="203200"/>
            <a:ext cx="1156788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4. Visualization Outputs: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Plots comparing </a:t>
            </a:r>
            <a:r>
              <a:rPr lang="en-US" b="1" dirty="0"/>
              <a:t>predicted vs. actual closing prices</a:t>
            </a:r>
            <a:r>
              <a:rPr lang="en-US" dirty="0"/>
              <a:t> show the model follows real trends with some deviations.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Training loss curve indicates that the model is </a:t>
            </a:r>
            <a:r>
              <a:rPr lang="en-US" b="1" dirty="0"/>
              <a:t>learning effectively</a:t>
            </a:r>
            <a:r>
              <a:rPr lang="en-US" dirty="0"/>
              <a:t> over epochs.</a:t>
            </a:r>
          </a:p>
          <a:p>
            <a:pPr>
              <a:buNone/>
            </a:pPr>
            <a:br>
              <a:rPr lang="en-US" dirty="0"/>
            </a:br>
            <a:endParaRPr lang="en-US" sz="2400" dirty="0"/>
          </a:p>
          <a:p>
            <a:pPr>
              <a:buNone/>
            </a:pPr>
            <a:r>
              <a:rPr lang="en-US" sz="2400" b="1" dirty="0"/>
              <a:t>5. Forecasting Ability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trained LSTM model has been tested for </a:t>
            </a:r>
            <a:r>
              <a:rPr lang="en-US" b="1" dirty="0"/>
              <a:t>short-term forecasting</a:t>
            </a:r>
            <a:r>
              <a:rPr lang="en-US" dirty="0"/>
              <a:t> of Bitcoin prices.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Early forecasts align reasonably well with actual values, showing the model’s potential for predictive accuracy.</a:t>
            </a:r>
          </a:p>
        </p:txBody>
      </p:sp>
    </p:spTree>
    <p:extLst>
      <p:ext uri="{BB962C8B-B14F-4D97-AF65-F5344CB8AC3E}">
        <p14:creationId xmlns:p14="http://schemas.microsoft.com/office/powerpoint/2010/main" val="275439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859</Words>
  <Application>Microsoft Office PowerPoint</Application>
  <PresentationFormat>Widescreen</PresentationFormat>
  <Paragraphs>104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thorne koushik</dc:creator>
  <cp:lastModifiedBy>thorne koushik</cp:lastModifiedBy>
  <cp:revision>1</cp:revision>
  <dcterms:created xsi:type="dcterms:W3CDTF">2025-09-17T17:23:54Z</dcterms:created>
  <dcterms:modified xsi:type="dcterms:W3CDTF">2025-09-17T17:26:55Z</dcterms:modified>
</cp:coreProperties>
</file>